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65" r:id="rId1"/>
  </p:sldMasterIdLst>
  <p:handoutMasterIdLst>
    <p:handoutMasterId r:id="rId17"/>
  </p:handoutMasterIdLst>
  <p:sldIdLst>
    <p:sldId id="256" r:id="rId2"/>
    <p:sldId id="264" r:id="rId3"/>
    <p:sldId id="267" r:id="rId4"/>
    <p:sldId id="268" r:id="rId5"/>
    <p:sldId id="269" r:id="rId6"/>
    <p:sldId id="271" r:id="rId7"/>
    <p:sldId id="283" r:id="rId8"/>
    <p:sldId id="284" r:id="rId9"/>
    <p:sldId id="270" r:id="rId10"/>
    <p:sldId id="272" r:id="rId11"/>
    <p:sldId id="281" r:id="rId12"/>
    <p:sldId id="282" r:id="rId13"/>
    <p:sldId id="265" r:id="rId14"/>
    <p:sldId id="266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708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1A1A2-99EF-431F-88D4-B559053732E8}" type="datetimeFigureOut">
              <a:rPr lang="en-US" smtClean="0"/>
              <a:pPr/>
              <a:t>9/7/2020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EA036-87CE-4666-8B9C-45D7439BECA1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defRPr>
            </a:lvl1pPr>
            <a:extLst/>
          </a:lstStyle>
          <a:p>
            <a:r>
              <a:rPr kumimoji="0" lang="en-US" dirty="0" err="1"/>
              <a:t>Cick</a:t>
            </a:r>
            <a:r>
              <a:rPr kumimoji="0" lang="en-US" dirty="0"/>
              <a:t>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44213AF-26F6-41FA-8D85-E2C5388D6E58}" type="datetimeFigureOut">
              <a:rPr lang="en-US" smtClean="0"/>
              <a:pPr/>
              <a:t>9/7/2020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kumimoji="0" lang="en-US">
              <a:solidFill>
                <a:schemeClr val="accent1">
                  <a:tint val="20000"/>
                </a:scheme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5BBC35B-A44B-4119-B8DA-DE9E3DFADA20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StarSymbol"/>
              <a:buChar char=""/>
            </a:pPr>
            <a:fld id="{D131D161-3111-41C1-91A1-01A171E1B181}" type="slidenum">
              <a:rPr lang="en-US" smtClean="0"/>
              <a:pPr>
                <a:buFont typeface="StarSymbol"/>
                <a:buChar char=""/>
              </a:pPr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StarSymbol"/>
              <a:buChar char=""/>
            </a:pPr>
            <a:fld id="{D131D161-3111-41C1-91A1-01A171E1B181}" type="slidenum">
              <a:rPr lang="en-US" smtClean="0"/>
              <a:pPr>
                <a:buFont typeface="StarSymbol"/>
                <a:buChar char=""/>
              </a:pPr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StarSymbol"/>
              <a:buChar char=""/>
            </a:pPr>
            <a:fld id="{D131D161-3111-41C1-91A1-01A171E1B181}" type="slidenum">
              <a:rPr lang="en-US" smtClean="0"/>
              <a:pPr>
                <a:buFont typeface="StarSymbol"/>
                <a:buChar char=""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StarSymbol"/>
              <a:buChar char=""/>
            </a:pPr>
            <a:fld id="{D131D161-3111-41C1-91A1-01A171E1B181}" type="slidenum">
              <a:rPr lang="en-US" smtClean="0"/>
              <a:pPr>
                <a:buFont typeface="StarSymbol"/>
                <a:buChar char=""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pPr/>
              <a:t>9/7/2020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StarSymbol"/>
              <a:buChar char=""/>
            </a:pPr>
            <a:fld id="{D131D161-3111-41C1-91A1-01A171E1B181}" type="slidenum">
              <a:rPr lang="en-US" smtClean="0"/>
              <a:pPr>
                <a:buFont typeface="StarSymbol"/>
                <a:buChar char=""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StarSymbol"/>
              <a:buChar char=""/>
            </a:pPr>
            <a:fld id="{D131D161-3111-41C1-91A1-01A171E1B181}" type="slidenum">
              <a:rPr lang="en-US" smtClean="0"/>
              <a:pPr>
                <a:buFont typeface="StarSymbol"/>
                <a:buChar char=""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buFont typeface="StarSymbol"/>
              <a:buChar char=""/>
            </a:pPr>
            <a:fld id="{D131D161-3111-41C1-91A1-01A171E1B181}" type="slidenum">
              <a:rPr lang="en-US" smtClean="0"/>
              <a:pPr>
                <a:buFont typeface="StarSymbol"/>
                <a:buChar char=""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StarSymbol"/>
              <a:buChar char=""/>
            </a:pPr>
            <a:fld id="{D131D161-3111-41C1-91A1-01A171E1B181}" type="slidenum">
              <a:rPr lang="en-US" smtClean="0"/>
              <a:pPr>
                <a:buFont typeface="StarSymbol"/>
                <a:buChar char=""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StarSymbol"/>
              <a:buChar char=""/>
            </a:pPr>
            <a:fld id="{D131D161-3111-41C1-91A1-01A171E1B181}" type="slidenum">
              <a:rPr lang="en-US" smtClean="0"/>
              <a:pPr>
                <a:buFont typeface="StarSymbol"/>
                <a:buChar char=""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CA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CA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buFont typeface="StarSymbol"/>
              <a:buChar char=""/>
            </a:pPr>
            <a:fld id="{D131D161-3111-41C1-91A1-01A171E1B181}" type="slidenum">
              <a:rPr lang="en-US" smtClean="0"/>
              <a:pPr>
                <a:buFont typeface="StarSymbol"/>
                <a:buChar char=""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</p:spPr>
        <p:txBody>
          <a:bodyPr lIns="90000" tIns="46800" rIns="90000" bIns="46800"/>
          <a:lstStyle/>
          <a:p>
            <a:pPr algn="r">
              <a:buFont typeface="StarSymbol"/>
              <a:buChar char=""/>
            </a:pPr>
            <a:fld id="{F1013141-2101-41F1-81F1-A131F1A15121}" type="slidenum">
              <a:rPr lang="en-US" sz="1400"/>
              <a:pPr algn="r">
                <a:buFont typeface="StarSymbol"/>
                <a:buChar char=""/>
              </a:pPr>
              <a:t>1</a:t>
            </a:fld>
            <a:endParaRPr/>
          </a:p>
        </p:txBody>
      </p:sp>
      <p:sp>
        <p:nvSpPr>
          <p:cNvPr id="38" name="TextShape 2"/>
          <p:cNvSpPr txBox="1"/>
          <p:nvPr/>
        </p:nvSpPr>
        <p:spPr>
          <a:xfrm>
            <a:off x="642960" y="1002960"/>
            <a:ext cx="7772400" cy="3351960"/>
          </a:xfrm>
          <a:prstGeom prst="rect">
            <a:avLst/>
          </a:prstGeom>
        </p:spPr>
        <p:txBody>
          <a:bodyPr anchor="ctr"/>
          <a:lstStyle/>
          <a:p>
            <a:pPr algn="ctr"/>
            <a:endParaRPr lang="en-US" sz="3600" dirty="0"/>
          </a:p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ITEC5102/SYSC5500</a:t>
            </a:r>
          </a:p>
          <a:p>
            <a:pPr algn="ctr"/>
            <a:r>
              <a:rPr lang="en-US" sz="3600" dirty="0">
                <a:latin typeface="Times New Roman"/>
                <a:cs typeface="Times New Roman"/>
              </a:rPr>
              <a:t> </a:t>
            </a:r>
            <a:r>
              <a:rPr lang="en-US" sz="3600" dirty="0">
                <a:solidFill>
                  <a:srgbClr val="3333CC"/>
                </a:solidFill>
                <a:latin typeface="Times New Roman"/>
                <a:cs typeface="Times New Roman"/>
              </a:rPr>
              <a:t>The course project 
</a:t>
            </a:r>
            <a:r>
              <a:rPr lang="en-US" sz="3600" dirty="0">
                <a:latin typeface="Times New Roman"/>
                <a:cs typeface="Times New Roman"/>
              </a:rPr>
              <a:t>
</a:t>
            </a:r>
            <a:r>
              <a:rPr lang="en-US" sz="3200" dirty="0">
                <a:latin typeface="Times New Roman"/>
                <a:cs typeface="Times New Roman"/>
              </a:rPr>
              <a:t>Prof. Ashraf </a:t>
            </a:r>
            <a:r>
              <a:rPr lang="en-US" sz="3200" dirty="0" err="1">
                <a:latin typeface="Times New Roman"/>
                <a:cs typeface="Times New Roman"/>
              </a:rPr>
              <a:t>Matrawy</a:t>
            </a:r>
            <a:endParaRPr lang="en-US" sz="3200" dirty="0">
              <a:latin typeface="Times New Roman"/>
              <a:cs typeface="Times New Roman"/>
            </a:endParaRPr>
          </a:p>
          <a:p>
            <a:pPr algn="ctr"/>
            <a:r>
              <a:rPr lang="en-US" sz="2600" dirty="0">
                <a:solidFill>
                  <a:srgbClr val="000000"/>
                </a:solidFill>
                <a:latin typeface="Times New Roman"/>
                <a:cs typeface="Times New Roman"/>
              </a:rPr>
              <a:t>September 2020 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Shape 3"/>
          <p:cNvSpPr txBox="1"/>
          <p:nvPr/>
        </p:nvSpPr>
        <p:spPr>
          <a:xfrm>
            <a:off x="685800" y="4285800"/>
            <a:ext cx="7772400" cy="3302640"/>
          </a:xfrm>
          <a:prstGeom prst="rect">
            <a:avLst/>
          </a:prstGeom>
        </p:spPr>
        <p:txBody>
          <a:bodyPr/>
          <a:lstStyle/>
          <a:p>
            <a:pPr lvl="1">
              <a:buFont typeface="Times New Roman"/>
              <a:buChar char="–"/>
            </a:pPr>
            <a:endParaRPr/>
          </a:p>
          <a:p>
            <a:pPr lvl="1">
              <a:buFont typeface="Times New Roman"/>
              <a:buChar char="–"/>
            </a:pPr>
            <a:endParaRPr/>
          </a:p>
          <a:p>
            <a:pPr lvl="1">
              <a:buFont typeface="Times New Roman"/>
              <a:buChar char="–"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CA" dirty="0"/>
              <a:t>Diverse group of students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Cover breadth (topics and exam)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Learn in depth in one relevant area (project)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Do some research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Train for solving bigger problems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Writing!!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Quality</a:t>
            </a:r>
          </a:p>
          <a:p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Times New Roman"/>
                <a:cs typeface="Times New Roman"/>
              </a:rPr>
              <a:t>Why do a project in this course?</a:t>
            </a:r>
            <a:endParaRPr lang="en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5720" y="1481328"/>
            <a:ext cx="8572560" cy="4525963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CA" sz="2800" dirty="0"/>
              <a:t>Check course outline</a:t>
            </a:r>
          </a:p>
          <a:p>
            <a:pPr lvl="0">
              <a:buFont typeface="Wingdings" pitchFamily="2" charset="2"/>
              <a:buChar char="Ø"/>
            </a:pPr>
            <a:r>
              <a:rPr lang="en-CA" sz="2800" dirty="0"/>
              <a:t>Make sure to plan/prepare before the deadline</a:t>
            </a:r>
          </a:p>
          <a:p>
            <a:pPr lvl="0">
              <a:buFont typeface="Wingdings" pitchFamily="2" charset="2"/>
              <a:buChar char="Ø"/>
            </a:pPr>
            <a:r>
              <a:rPr lang="en-CA" sz="2800" dirty="0"/>
              <a:t>There is a mailing list on </a:t>
            </a:r>
            <a:r>
              <a:rPr lang="en-CA" sz="2800" dirty="0" err="1"/>
              <a:t>CULearn</a:t>
            </a:r>
            <a:r>
              <a:rPr lang="en-CA" sz="2800" dirty="0"/>
              <a:t> to form groups</a:t>
            </a:r>
          </a:p>
          <a:p>
            <a:pPr lvl="0">
              <a:buFont typeface="Wingdings" pitchFamily="2" charset="2"/>
              <a:buChar char="Ø"/>
            </a:pPr>
            <a:r>
              <a:rPr lang="en-CA" sz="2800" dirty="0"/>
              <a:t>Each group will present their idea for the proposal in class</a:t>
            </a:r>
          </a:p>
          <a:p>
            <a:pPr>
              <a:buNone/>
            </a:pPr>
            <a:r>
              <a:rPr lang="en-US" sz="2800" dirty="0"/>
              <a:t> </a:t>
            </a:r>
            <a:endParaRPr lang="en-CA" sz="2800" dirty="0"/>
          </a:p>
          <a:p>
            <a:pPr marL="850392" lvl="1" indent="-457200">
              <a:lnSpc>
                <a:spcPct val="90000"/>
              </a:lnSpc>
              <a:buNone/>
            </a:pPr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Milestones	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5720" y="1481328"/>
            <a:ext cx="8501122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CA" dirty="0"/>
              <a:t>Refer to the course outline for details: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You have to do a considerable amount of work!!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>
                <a:solidFill>
                  <a:srgbClr val="FF0000"/>
                </a:solidFill>
              </a:rPr>
              <a:t>Work should not be done before. </a:t>
            </a:r>
            <a:r>
              <a:rPr lang="en-CA" dirty="0"/>
              <a:t>Do not borrow something off the net or something you did before in a previous course or your thesis work.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Nothing from your work place should go into the project 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Two students/group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For fairness, my time will be allocated equally between groups asking for feedback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Rules	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CA" dirty="0">
                <a:solidFill>
                  <a:srgbClr val="FF0000"/>
                </a:solidFill>
              </a:rPr>
              <a:t>Implementation setup is your own job</a:t>
            </a:r>
            <a:endParaRPr lang="en-CA" dirty="0"/>
          </a:p>
          <a:p>
            <a:pPr>
              <a:buFont typeface="Wingdings" pitchFamily="2" charset="2"/>
              <a:buChar char="Ø"/>
            </a:pPr>
            <a:r>
              <a:rPr lang="en-CA" dirty="0"/>
              <a:t>Will decide on a page limit for final survey papers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For all submissions, only PDF is acceptable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Presentation, style, grammar, and spelling count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Plagiarism again!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Respect copyright </a:t>
            </a:r>
          </a:p>
          <a:p>
            <a:pPr>
              <a:buFont typeface="Wingdings" pitchFamily="2" charset="2"/>
              <a:buChar char="Ø"/>
            </a:pPr>
            <a:r>
              <a:rPr lang="en-CA" dirty="0">
                <a:solidFill>
                  <a:srgbClr val="FF0000"/>
                </a:solidFill>
              </a:rPr>
              <a:t>You have to send confirmation you will follow ALL the rules in the outline</a:t>
            </a:r>
          </a:p>
          <a:p>
            <a:pPr>
              <a:buFont typeface="Wingdings" pitchFamily="2" charset="2"/>
              <a:buChar char="Ø"/>
            </a:pPr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Rules	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CA" dirty="0"/>
              <a:t>High quality work and paper 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High quality presentations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You should spare no effort to get good results, however there is no expectation of major originality. </a:t>
            </a:r>
          </a:p>
          <a:p>
            <a:pPr>
              <a:buFont typeface="Wingdings" pitchFamily="2" charset="2"/>
              <a:buChar char="Ø"/>
            </a:pPr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Expectations	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CA" dirty="0"/>
              <a:t>First approach: pick an existing published paper and 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Reproduce results. This requires your OWN implementation and experimentation. 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If paper provides code, you have to clearly state that and state what is that you doing on your own. The instructor has to approve this. 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This will earn you B+ to A-. 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Then, for a higher grade you either critique the paper based on your own evaluation or propose and implement and evaluate an extension (does not have to be a major extension)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The paper has to be from a top conference. See the end of these slides for a list of conferences. </a:t>
            </a:r>
          </a:p>
          <a:p>
            <a:pPr>
              <a:buFont typeface="Wingdings" pitchFamily="2" charset="2"/>
              <a:buChar char="Ø"/>
            </a:pPr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Two approaches	</a:t>
            </a:r>
          </a:p>
        </p:txBody>
      </p:sp>
    </p:spTree>
    <p:extLst>
      <p:ext uri="{BB962C8B-B14F-4D97-AF65-F5344CB8AC3E}">
        <p14:creationId xmlns:p14="http://schemas.microsoft.com/office/powerpoint/2010/main" val="904956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CA" dirty="0"/>
              <a:t>Second approach: propose something new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Propose and </a:t>
            </a:r>
            <a:r>
              <a:rPr lang="en-CA" u="sng" dirty="0"/>
              <a:t>implement</a:t>
            </a:r>
            <a:r>
              <a:rPr lang="en-CA" dirty="0"/>
              <a:t> something new. 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Examples: </a:t>
            </a:r>
          </a:p>
          <a:p>
            <a:pPr lvl="2">
              <a:buFont typeface="Wingdings" pitchFamily="2" charset="2"/>
              <a:buChar char="Ø"/>
            </a:pPr>
            <a:r>
              <a:rPr lang="en-CA" dirty="0"/>
              <a:t>Comparison of two existing techniques</a:t>
            </a:r>
          </a:p>
          <a:p>
            <a:pPr lvl="2">
              <a:buFont typeface="Wingdings" pitchFamily="2" charset="2"/>
              <a:buChar char="Ø"/>
            </a:pPr>
            <a:r>
              <a:rPr lang="en-CA" dirty="0"/>
              <a:t>Use a different algorithm to enhance the performance of an existing system</a:t>
            </a:r>
          </a:p>
          <a:p>
            <a:pPr lvl="2">
              <a:buFont typeface="Wingdings" pitchFamily="2" charset="2"/>
              <a:buChar char="Ø"/>
            </a:pPr>
            <a:r>
              <a:rPr lang="en-CA" dirty="0"/>
              <a:t>Performance evaluation of an existing protocol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/>
              <a:t>Finding the evaluation criteria is part of the proposal</a:t>
            </a:r>
          </a:p>
          <a:p>
            <a:pPr lvl="2">
              <a:buFont typeface="Wingdings" pitchFamily="2" charset="2"/>
              <a:buChar char="Ø"/>
            </a:pPr>
            <a:endParaRPr lang="en-CA" dirty="0"/>
          </a:p>
          <a:p>
            <a:pPr>
              <a:buFont typeface="Wingdings" pitchFamily="2" charset="2"/>
              <a:buChar char="Ø"/>
            </a:pPr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Two approaches	</a:t>
            </a:r>
          </a:p>
        </p:txBody>
      </p:sp>
    </p:spTree>
    <p:extLst>
      <p:ext uri="{BB962C8B-B14F-4D97-AF65-F5344CB8AC3E}">
        <p14:creationId xmlns:p14="http://schemas.microsoft.com/office/powerpoint/2010/main" val="658492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Times New Roman"/>
              <a:buChar char="•"/>
            </a:pPr>
            <a:r>
              <a:rPr lang="en-CA" dirty="0"/>
              <a:t>Switching paper (IEEE CNSR 06) </a:t>
            </a:r>
          </a:p>
          <a:p>
            <a:pPr>
              <a:buFont typeface="Times New Roman"/>
              <a:buChar char="•"/>
            </a:pPr>
            <a:r>
              <a:rPr lang="en-CA" dirty="0"/>
              <a:t>Shared browser paper (IEEE Internet Computing)</a:t>
            </a:r>
          </a:p>
          <a:p>
            <a:pPr>
              <a:buFont typeface="Wingdings" pitchFamily="2" charset="2"/>
              <a:buChar char="Ø"/>
            </a:pPr>
            <a:r>
              <a:rPr lang="en-CA" dirty="0" err="1"/>
              <a:t>Wireshark</a:t>
            </a:r>
            <a:r>
              <a:rPr lang="en-CA" dirty="0"/>
              <a:t> paper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SYN cookies paper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IJNS journal paper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IFIP paper: </a:t>
            </a:r>
            <a:r>
              <a:rPr lang="en-CA" dirty="0" err="1"/>
              <a:t>androind</a:t>
            </a:r>
            <a:r>
              <a:rPr lang="en-CA" dirty="0"/>
              <a:t> power consumption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IFIP paper: web browser fingerprinting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CNS 2015, 2016 poster and tech report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Two papers in NETWORKS 2016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More recent examples from my webpage </a:t>
            </a:r>
          </a:p>
          <a:p>
            <a:pPr>
              <a:buFont typeface="Wingdings" pitchFamily="2" charset="2"/>
              <a:buChar char="Ø"/>
            </a:pPr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Samples 	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CA" dirty="0"/>
              <a:t>Top conferences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IEEE </a:t>
            </a:r>
            <a:r>
              <a:rPr lang="en-CA" dirty="0" err="1"/>
              <a:t>Infocom</a:t>
            </a:r>
            <a:r>
              <a:rPr lang="en-CA" dirty="0"/>
              <a:t>, Security and Privacy, ICNP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ACM SIGCOMM, CCS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/>
              <a:t>NDSS</a:t>
            </a:r>
          </a:p>
          <a:p>
            <a:pPr lvl="1">
              <a:buFont typeface="Wingdings" pitchFamily="2" charset="2"/>
              <a:buChar char="Ø"/>
            </a:pPr>
            <a:r>
              <a:rPr lang="en-CA" dirty="0" err="1"/>
              <a:t>Usenix</a:t>
            </a:r>
            <a:r>
              <a:rPr lang="en-CA" dirty="0"/>
              <a:t> security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Google citations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Short survey 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Identify topics 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Specific goal (you do not have much time)</a:t>
            </a:r>
          </a:p>
          <a:p>
            <a:pPr>
              <a:buFont typeface="Times New Roman"/>
              <a:buChar char="•"/>
            </a:pPr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How to start 	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048C77-AB4A-4241-A79E-94CCE0D1B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anchor="t">
            <a:normAutofit/>
          </a:bodyPr>
          <a:lstStyle/>
          <a:p>
            <a:pPr indent="-255905"/>
            <a:r>
              <a:rPr lang="en-US" dirty="0">
                <a:latin typeface="Times New Roman"/>
                <a:cs typeface="Times New Roman"/>
              </a:rPr>
              <a:t>Scope</a:t>
            </a:r>
            <a:endParaRPr lang="en-US" dirty="0"/>
          </a:p>
          <a:p>
            <a:pPr indent="-255905"/>
            <a:r>
              <a:rPr lang="en-US" dirty="0">
                <a:latin typeface="Times New Roman"/>
                <a:cs typeface="Times New Roman"/>
              </a:rPr>
              <a:t>Citations and references</a:t>
            </a:r>
          </a:p>
          <a:p>
            <a:pPr indent="-255905"/>
            <a:r>
              <a:rPr lang="en-US" dirty="0">
                <a:latin typeface="Times New Roman"/>
                <a:cs typeface="Times New Roman"/>
              </a:rPr>
              <a:t>Existing work, related work</a:t>
            </a:r>
          </a:p>
          <a:p>
            <a:pPr indent="-255905"/>
            <a:r>
              <a:rPr lang="en-US" dirty="0">
                <a:latin typeface="Times New Roman"/>
                <a:cs typeface="Times New Roman"/>
              </a:rPr>
              <a:t>Expectations: to demo something</a:t>
            </a:r>
          </a:p>
          <a:p>
            <a:pPr indent="-255905"/>
            <a:r>
              <a:rPr lang="en-US" dirty="0">
                <a:latin typeface="Times New Roman"/>
                <a:cs typeface="Times New Roman"/>
              </a:rPr>
              <a:t>Programming/experimentation is needed, so think about it before you propose something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25B0FF-283D-4167-A0EB-7828D31D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The proposal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243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60C80A-E4F1-4E67-A76B-5CF5D01F5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anchor="t">
            <a:normAutofit/>
          </a:bodyPr>
          <a:lstStyle/>
          <a:p>
            <a:pPr indent="-255905"/>
            <a:r>
              <a:rPr lang="en-US" dirty="0"/>
              <a:t>You need tools, resources (including Data), that you have the right to use. Check course outline for rules</a:t>
            </a:r>
          </a:p>
          <a:p>
            <a:pPr indent="-255905"/>
            <a:r>
              <a:rPr lang="en-US" dirty="0"/>
              <a:t>Outline of the proposal</a:t>
            </a:r>
          </a:p>
          <a:p>
            <a:pPr indent="-255905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26727D-96E2-4112-96DC-E2EC9651B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The proposal (continued)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24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StarSymbol"/>
              <a:buAutoNum type="arabicPeriod"/>
            </a:pPr>
            <a:r>
              <a:rPr lang="en-CA" dirty="0"/>
              <a:t>Introduction </a:t>
            </a:r>
          </a:p>
          <a:p>
            <a:pPr lvl="1">
              <a:buFont typeface="StarSymbol"/>
              <a:buAutoNum type="arabicPeriod"/>
            </a:pPr>
            <a:r>
              <a:rPr lang="en-CA" dirty="0"/>
              <a:t>Background on the area</a:t>
            </a:r>
          </a:p>
          <a:p>
            <a:pPr lvl="1">
              <a:buFont typeface="StarSymbol"/>
              <a:buAutoNum type="arabicPeriod"/>
            </a:pPr>
            <a:r>
              <a:rPr lang="en-CA" dirty="0"/>
              <a:t>Motivation </a:t>
            </a:r>
          </a:p>
          <a:p>
            <a:pPr lvl="2"/>
            <a:r>
              <a:rPr lang="en-CA" dirty="0"/>
              <a:t>Or reason why you picked a certain paper to reproduce</a:t>
            </a:r>
          </a:p>
          <a:p>
            <a:pPr lvl="1">
              <a:buFont typeface="StarSymbol"/>
              <a:buAutoNum type="arabicPeriod"/>
            </a:pPr>
            <a:r>
              <a:rPr lang="en-CA" dirty="0"/>
              <a:t>Problem definition</a:t>
            </a:r>
          </a:p>
          <a:p>
            <a:pPr lvl="1">
              <a:buFont typeface="StarSymbol"/>
              <a:buAutoNum type="arabicPeriod"/>
            </a:pPr>
            <a:r>
              <a:rPr lang="en-CA" dirty="0"/>
              <a:t>Methodology and justification of using it and justification of the use of a particular technology</a:t>
            </a:r>
          </a:p>
          <a:p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Final paper requirements	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0392" lvl="1" indent="-45720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/>
              <a:t>Implementation/Experiments/Simulations</a:t>
            </a:r>
          </a:p>
          <a:p>
            <a:pPr marL="850392" lvl="1" indent="-45720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/>
              <a:t>Results</a:t>
            </a:r>
          </a:p>
          <a:p>
            <a:pPr marL="850392" lvl="1" indent="-45720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/>
              <a:t>Discussion</a:t>
            </a:r>
          </a:p>
          <a:p>
            <a:pPr marL="850392" lvl="1" indent="-45720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/>
              <a:t>Conclusions</a:t>
            </a:r>
          </a:p>
          <a:p>
            <a:pPr marL="850392" lvl="1" indent="-45720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/>
              <a:t>Recommendation for future work</a:t>
            </a:r>
          </a:p>
          <a:p>
            <a:pPr marL="850392" lvl="1" indent="-457200">
              <a:lnSpc>
                <a:spcPct val="90000"/>
              </a:lnSpc>
              <a:buNone/>
            </a:pPr>
            <a:r>
              <a:rPr lang="en-US" dirty="0"/>
              <a:t>References</a:t>
            </a:r>
          </a:p>
          <a:p>
            <a:pPr marL="850392" lvl="1" indent="-457200">
              <a:lnSpc>
                <a:spcPct val="90000"/>
              </a:lnSpc>
              <a:buNone/>
            </a:pPr>
            <a:r>
              <a:rPr lang="en-US" dirty="0"/>
              <a:t>Appendix</a:t>
            </a:r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Final paper requirements (cont.)	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CA" dirty="0"/>
              <a:t>ACM CCS 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IEEE Sec. &amp; Priv. 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NDSS</a:t>
            </a:r>
          </a:p>
          <a:p>
            <a:pPr>
              <a:buFont typeface="Wingdings" pitchFamily="2" charset="2"/>
              <a:buChar char="Ø"/>
            </a:pPr>
            <a:r>
              <a:rPr lang="en-CA" dirty="0" err="1"/>
              <a:t>Usenix</a:t>
            </a:r>
            <a:r>
              <a:rPr lang="en-CA" dirty="0"/>
              <a:t> security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ACSAC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INFOCOM</a:t>
            </a:r>
          </a:p>
          <a:p>
            <a:pPr>
              <a:buFont typeface="Wingdings" pitchFamily="2" charset="2"/>
              <a:buChar char="Ø"/>
            </a:pPr>
            <a:r>
              <a:rPr lang="en-CA" dirty="0"/>
              <a:t>SIGCOMM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Recent conference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173</TotalTime>
  <Words>645</Words>
  <Application>Microsoft Office PowerPoint</Application>
  <PresentationFormat>On-screen Show (4:3)</PresentationFormat>
  <Paragraphs>107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Calibri</vt:lpstr>
      <vt:lpstr>Lucida Sans Unicode</vt:lpstr>
      <vt:lpstr>StarSymbol</vt:lpstr>
      <vt:lpstr>Times New Roman</vt:lpstr>
      <vt:lpstr>Verdana</vt:lpstr>
      <vt:lpstr>Wingdings</vt:lpstr>
      <vt:lpstr>Wingdings 2</vt:lpstr>
      <vt:lpstr>Wingdings 3</vt:lpstr>
      <vt:lpstr>Concourse</vt:lpstr>
      <vt:lpstr>PowerPoint Presentation</vt:lpstr>
      <vt:lpstr>Why do a project in this course?</vt:lpstr>
      <vt:lpstr>Milestones </vt:lpstr>
      <vt:lpstr>Rules </vt:lpstr>
      <vt:lpstr>Rules </vt:lpstr>
      <vt:lpstr>Expectations </vt:lpstr>
      <vt:lpstr>Two approaches </vt:lpstr>
      <vt:lpstr>Two approaches </vt:lpstr>
      <vt:lpstr>Samples  </vt:lpstr>
      <vt:lpstr>How to start  </vt:lpstr>
      <vt:lpstr>The proposal</vt:lpstr>
      <vt:lpstr>The proposal (continued)</vt:lpstr>
      <vt:lpstr>Final paper requirements </vt:lpstr>
      <vt:lpstr>Final paper requirements (cont.) </vt:lpstr>
      <vt:lpstr>Recent conference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HomeHP-TP01-0119</cp:lastModifiedBy>
  <cp:revision>70</cp:revision>
  <dcterms:modified xsi:type="dcterms:W3CDTF">2020-09-07T14:21:19Z</dcterms:modified>
</cp:coreProperties>
</file>