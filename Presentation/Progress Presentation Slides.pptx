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69" r:id="rId5"/>
    <p:sldId id="273" r:id="rId6"/>
    <p:sldId id="259" r:id="rId7"/>
    <p:sldId id="268" r:id="rId8"/>
    <p:sldId id="260" r:id="rId9"/>
    <p:sldId id="270" r:id="rId10"/>
    <p:sldId id="261" r:id="rId11"/>
    <p:sldId id="271" r:id="rId12"/>
    <p:sldId id="274" r:id="rId13"/>
    <p:sldId id="262" r:id="rId14"/>
    <p:sldId id="272" r:id="rId15"/>
    <p:sldId id="263"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7136" autoAdjust="0"/>
  </p:normalViewPr>
  <p:slideViewPr>
    <p:cSldViewPr snapToGrid="0">
      <p:cViewPr varScale="1">
        <p:scale>
          <a:sx n="66" d="100"/>
          <a:sy n="66" d="100"/>
        </p:scale>
        <p:origin x="13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48959E-710B-47CB-8CFB-AF63EE2F2DE2}" type="datetimeFigureOut">
              <a:rPr lang="en-CA" smtClean="0"/>
              <a:t>2020-11-02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F16A09-DB9C-4E2C-AD77-FFCE45BF9254}" type="slidenum">
              <a:rPr lang="en-CA" smtClean="0"/>
              <a:t>‹#›</a:t>
            </a:fld>
            <a:endParaRPr lang="en-CA"/>
          </a:p>
        </p:txBody>
      </p:sp>
    </p:spTree>
    <p:extLst>
      <p:ext uri="{BB962C8B-B14F-4D97-AF65-F5344CB8AC3E}">
        <p14:creationId xmlns:p14="http://schemas.microsoft.com/office/powerpoint/2010/main" val="303342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2</a:t>
            </a:fld>
            <a:endParaRPr lang="en-CA"/>
          </a:p>
        </p:txBody>
      </p:sp>
    </p:spTree>
    <p:extLst>
      <p:ext uri="{BB962C8B-B14F-4D97-AF65-F5344CB8AC3E}">
        <p14:creationId xmlns:p14="http://schemas.microsoft.com/office/powerpoint/2010/main" val="2793939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Fahmida</a:t>
            </a:r>
            <a:endParaRPr lang="en-CA" dirty="0"/>
          </a:p>
        </p:txBody>
      </p:sp>
      <p:sp>
        <p:nvSpPr>
          <p:cNvPr id="4" name="Slide Number Placeholder 3"/>
          <p:cNvSpPr>
            <a:spLocks noGrp="1"/>
          </p:cNvSpPr>
          <p:nvPr>
            <p:ph type="sldNum" sz="quarter" idx="5"/>
          </p:nvPr>
        </p:nvSpPr>
        <p:spPr/>
        <p:txBody>
          <a:bodyPr/>
          <a:lstStyle/>
          <a:p>
            <a:fld id="{27F16A09-DB9C-4E2C-AD77-FFCE45BF9254}" type="slidenum">
              <a:rPr lang="en-CA" smtClean="0"/>
              <a:t>3</a:t>
            </a:fld>
            <a:endParaRPr lang="en-CA"/>
          </a:p>
        </p:txBody>
      </p:sp>
    </p:spTree>
    <p:extLst>
      <p:ext uri="{BB962C8B-B14F-4D97-AF65-F5344CB8AC3E}">
        <p14:creationId xmlns:p14="http://schemas.microsoft.com/office/powerpoint/2010/main" val="1607107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Fahmida</a:t>
            </a:r>
            <a:endParaRPr lang="en-CA" dirty="0"/>
          </a:p>
        </p:txBody>
      </p:sp>
      <p:sp>
        <p:nvSpPr>
          <p:cNvPr id="4" name="Slide Number Placeholder 3"/>
          <p:cNvSpPr>
            <a:spLocks noGrp="1"/>
          </p:cNvSpPr>
          <p:nvPr>
            <p:ph type="sldNum" sz="quarter" idx="5"/>
          </p:nvPr>
        </p:nvSpPr>
        <p:spPr/>
        <p:txBody>
          <a:bodyPr/>
          <a:lstStyle/>
          <a:p>
            <a:fld id="{27F16A09-DB9C-4E2C-AD77-FFCE45BF9254}" type="slidenum">
              <a:rPr lang="en-CA" smtClean="0"/>
              <a:t>4</a:t>
            </a:fld>
            <a:endParaRPr lang="en-CA"/>
          </a:p>
        </p:txBody>
      </p:sp>
    </p:spTree>
    <p:extLst>
      <p:ext uri="{BB962C8B-B14F-4D97-AF65-F5344CB8AC3E}">
        <p14:creationId xmlns:p14="http://schemas.microsoft.com/office/powerpoint/2010/main" val="610031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Fahmida</a:t>
            </a:r>
            <a:endParaRPr lang="en-CA" dirty="0"/>
          </a:p>
        </p:txBody>
      </p:sp>
      <p:sp>
        <p:nvSpPr>
          <p:cNvPr id="4" name="Slide Number Placeholder 3"/>
          <p:cNvSpPr>
            <a:spLocks noGrp="1"/>
          </p:cNvSpPr>
          <p:nvPr>
            <p:ph type="sldNum" sz="quarter" idx="5"/>
          </p:nvPr>
        </p:nvSpPr>
        <p:spPr/>
        <p:txBody>
          <a:bodyPr/>
          <a:lstStyle/>
          <a:p>
            <a:fld id="{27F16A09-DB9C-4E2C-AD77-FFCE45BF9254}" type="slidenum">
              <a:rPr lang="en-CA" smtClean="0"/>
              <a:t>5</a:t>
            </a:fld>
            <a:endParaRPr lang="en-CA"/>
          </a:p>
        </p:txBody>
      </p:sp>
    </p:spTree>
    <p:extLst>
      <p:ext uri="{BB962C8B-B14F-4D97-AF65-F5344CB8AC3E}">
        <p14:creationId xmlns:p14="http://schemas.microsoft.com/office/powerpoint/2010/main" val="1792687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Fahmida</a:t>
            </a:r>
            <a:endParaRPr lang="en-CA" dirty="0"/>
          </a:p>
        </p:txBody>
      </p:sp>
      <p:sp>
        <p:nvSpPr>
          <p:cNvPr id="4" name="Slide Number Placeholder 3"/>
          <p:cNvSpPr>
            <a:spLocks noGrp="1"/>
          </p:cNvSpPr>
          <p:nvPr>
            <p:ph type="sldNum" sz="quarter" idx="5"/>
          </p:nvPr>
        </p:nvSpPr>
        <p:spPr/>
        <p:txBody>
          <a:bodyPr/>
          <a:lstStyle/>
          <a:p>
            <a:fld id="{27F16A09-DB9C-4E2C-AD77-FFCE45BF9254}" type="slidenum">
              <a:rPr lang="en-CA" smtClean="0"/>
              <a:t>6</a:t>
            </a:fld>
            <a:endParaRPr lang="en-CA"/>
          </a:p>
        </p:txBody>
      </p:sp>
    </p:spTree>
    <p:extLst>
      <p:ext uri="{BB962C8B-B14F-4D97-AF65-F5344CB8AC3E}">
        <p14:creationId xmlns:p14="http://schemas.microsoft.com/office/powerpoint/2010/main" val="2547353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err="1"/>
              <a:t>Fahmida</a:t>
            </a:r>
            <a:r>
              <a:rPr lang="en-CA" dirty="0"/>
              <a:t> - </a:t>
            </a:r>
            <a:r>
              <a:rPr lang="en-US" sz="1200" dirty="0"/>
              <a:t>The issue you have with overlay networks is that it must be implemented at the network level, it is not implemented at the service level. This is where cross network secure service networking comes into play.</a:t>
            </a:r>
          </a:p>
          <a:p>
            <a:endParaRPr lang="en-CA" dirty="0"/>
          </a:p>
        </p:txBody>
      </p:sp>
      <p:sp>
        <p:nvSpPr>
          <p:cNvPr id="4" name="Slide Number Placeholder 3"/>
          <p:cNvSpPr>
            <a:spLocks noGrp="1"/>
          </p:cNvSpPr>
          <p:nvPr>
            <p:ph type="sldNum" sz="quarter" idx="5"/>
          </p:nvPr>
        </p:nvSpPr>
        <p:spPr/>
        <p:txBody>
          <a:bodyPr/>
          <a:lstStyle/>
          <a:p>
            <a:fld id="{27F16A09-DB9C-4E2C-AD77-FFCE45BF9254}" type="slidenum">
              <a:rPr lang="en-CA" smtClean="0"/>
              <a:t>7</a:t>
            </a:fld>
            <a:endParaRPr lang="en-CA"/>
          </a:p>
        </p:txBody>
      </p:sp>
    </p:spTree>
    <p:extLst>
      <p:ext uri="{BB962C8B-B14F-4D97-AF65-F5344CB8AC3E}">
        <p14:creationId xmlns:p14="http://schemas.microsoft.com/office/powerpoint/2010/main" val="2131638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Jeff</a:t>
            </a:r>
          </a:p>
        </p:txBody>
      </p:sp>
      <p:sp>
        <p:nvSpPr>
          <p:cNvPr id="4" name="Slide Number Placeholder 3"/>
          <p:cNvSpPr>
            <a:spLocks noGrp="1"/>
          </p:cNvSpPr>
          <p:nvPr>
            <p:ph type="sldNum" sz="quarter" idx="5"/>
          </p:nvPr>
        </p:nvSpPr>
        <p:spPr/>
        <p:txBody>
          <a:bodyPr/>
          <a:lstStyle/>
          <a:p>
            <a:fld id="{27F16A09-DB9C-4E2C-AD77-FFCE45BF9254}" type="slidenum">
              <a:rPr lang="en-CA" smtClean="0"/>
              <a:t>8</a:t>
            </a:fld>
            <a:endParaRPr lang="en-CA"/>
          </a:p>
        </p:txBody>
      </p:sp>
    </p:spTree>
    <p:extLst>
      <p:ext uri="{BB962C8B-B14F-4D97-AF65-F5344CB8AC3E}">
        <p14:creationId xmlns:p14="http://schemas.microsoft.com/office/powerpoint/2010/main" val="2603903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Jeff</a:t>
            </a:r>
          </a:p>
        </p:txBody>
      </p:sp>
      <p:sp>
        <p:nvSpPr>
          <p:cNvPr id="4" name="Slide Number Placeholder 3"/>
          <p:cNvSpPr>
            <a:spLocks noGrp="1"/>
          </p:cNvSpPr>
          <p:nvPr>
            <p:ph type="sldNum" sz="quarter" idx="5"/>
          </p:nvPr>
        </p:nvSpPr>
        <p:spPr/>
        <p:txBody>
          <a:bodyPr/>
          <a:lstStyle/>
          <a:p>
            <a:fld id="{27F16A09-DB9C-4E2C-AD77-FFCE45BF9254}" type="slidenum">
              <a:rPr lang="en-CA" smtClean="0"/>
              <a:t>9</a:t>
            </a:fld>
            <a:endParaRPr lang="en-CA"/>
          </a:p>
        </p:txBody>
      </p:sp>
    </p:spTree>
    <p:extLst>
      <p:ext uri="{BB962C8B-B14F-4D97-AF65-F5344CB8AC3E}">
        <p14:creationId xmlns:p14="http://schemas.microsoft.com/office/powerpoint/2010/main" val="2210987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Jeff</a:t>
            </a:r>
          </a:p>
        </p:txBody>
      </p:sp>
      <p:sp>
        <p:nvSpPr>
          <p:cNvPr id="4" name="Slide Number Placeholder 3"/>
          <p:cNvSpPr>
            <a:spLocks noGrp="1"/>
          </p:cNvSpPr>
          <p:nvPr>
            <p:ph type="sldNum" sz="quarter" idx="5"/>
          </p:nvPr>
        </p:nvSpPr>
        <p:spPr/>
        <p:txBody>
          <a:bodyPr/>
          <a:lstStyle/>
          <a:p>
            <a:fld id="{27F16A09-DB9C-4E2C-AD77-FFCE45BF9254}" type="slidenum">
              <a:rPr lang="en-CA" smtClean="0"/>
              <a:t>10</a:t>
            </a:fld>
            <a:endParaRPr lang="en-CA"/>
          </a:p>
        </p:txBody>
      </p:sp>
    </p:spTree>
    <p:extLst>
      <p:ext uri="{BB962C8B-B14F-4D97-AF65-F5344CB8AC3E}">
        <p14:creationId xmlns:p14="http://schemas.microsoft.com/office/powerpoint/2010/main" val="3602775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Jeff</a:t>
            </a:r>
          </a:p>
        </p:txBody>
      </p:sp>
      <p:sp>
        <p:nvSpPr>
          <p:cNvPr id="4" name="Slide Number Placeholder 3"/>
          <p:cNvSpPr>
            <a:spLocks noGrp="1"/>
          </p:cNvSpPr>
          <p:nvPr>
            <p:ph type="sldNum" sz="quarter" idx="5"/>
          </p:nvPr>
        </p:nvSpPr>
        <p:spPr/>
        <p:txBody>
          <a:bodyPr/>
          <a:lstStyle/>
          <a:p>
            <a:fld id="{27F16A09-DB9C-4E2C-AD77-FFCE45BF9254}" type="slidenum">
              <a:rPr lang="en-CA" smtClean="0"/>
              <a:t>11</a:t>
            </a:fld>
            <a:endParaRPr lang="en-CA"/>
          </a:p>
        </p:txBody>
      </p:sp>
    </p:spTree>
    <p:extLst>
      <p:ext uri="{BB962C8B-B14F-4D97-AF65-F5344CB8AC3E}">
        <p14:creationId xmlns:p14="http://schemas.microsoft.com/office/powerpoint/2010/main" val="4218205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13</a:t>
            </a:fld>
            <a:endParaRPr lang="en-CA"/>
          </a:p>
        </p:txBody>
      </p:sp>
    </p:spTree>
    <p:extLst>
      <p:ext uri="{BB962C8B-B14F-4D97-AF65-F5344CB8AC3E}">
        <p14:creationId xmlns:p14="http://schemas.microsoft.com/office/powerpoint/2010/main" val="2123194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14</a:t>
            </a:fld>
            <a:endParaRPr lang="en-CA"/>
          </a:p>
        </p:txBody>
      </p:sp>
    </p:spTree>
    <p:extLst>
      <p:ext uri="{BB962C8B-B14F-4D97-AF65-F5344CB8AC3E}">
        <p14:creationId xmlns:p14="http://schemas.microsoft.com/office/powerpoint/2010/main" val="3096275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15</a:t>
            </a:fld>
            <a:endParaRPr lang="en-CA"/>
          </a:p>
        </p:txBody>
      </p:sp>
    </p:spTree>
    <p:extLst>
      <p:ext uri="{BB962C8B-B14F-4D97-AF65-F5344CB8AC3E}">
        <p14:creationId xmlns:p14="http://schemas.microsoft.com/office/powerpoint/2010/main" val="4181538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16</a:t>
            </a:fld>
            <a:endParaRPr lang="en-CA"/>
          </a:p>
        </p:txBody>
      </p:sp>
    </p:spTree>
    <p:extLst>
      <p:ext uri="{BB962C8B-B14F-4D97-AF65-F5344CB8AC3E}">
        <p14:creationId xmlns:p14="http://schemas.microsoft.com/office/powerpoint/2010/main" val="2304117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17</a:t>
            </a:fld>
            <a:endParaRPr lang="en-CA"/>
          </a:p>
        </p:txBody>
      </p:sp>
    </p:spTree>
    <p:extLst>
      <p:ext uri="{BB962C8B-B14F-4D97-AF65-F5344CB8AC3E}">
        <p14:creationId xmlns:p14="http://schemas.microsoft.com/office/powerpoint/2010/main" val="4290601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Georges</a:t>
            </a:r>
          </a:p>
        </p:txBody>
      </p:sp>
      <p:sp>
        <p:nvSpPr>
          <p:cNvPr id="4" name="Slide Number Placeholder 3"/>
          <p:cNvSpPr>
            <a:spLocks noGrp="1"/>
          </p:cNvSpPr>
          <p:nvPr>
            <p:ph type="sldNum" sz="quarter" idx="5"/>
          </p:nvPr>
        </p:nvSpPr>
        <p:spPr/>
        <p:txBody>
          <a:bodyPr/>
          <a:lstStyle/>
          <a:p>
            <a:fld id="{27F16A09-DB9C-4E2C-AD77-FFCE45BF9254}" type="slidenum">
              <a:rPr lang="en-CA" smtClean="0"/>
              <a:t>18</a:t>
            </a:fld>
            <a:endParaRPr lang="en-CA"/>
          </a:p>
        </p:txBody>
      </p:sp>
    </p:spTree>
    <p:extLst>
      <p:ext uri="{BB962C8B-B14F-4D97-AF65-F5344CB8AC3E}">
        <p14:creationId xmlns:p14="http://schemas.microsoft.com/office/powerpoint/2010/main" val="3107650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0CCA6-E6D3-4836-9B57-662DB6C65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C897DCA-94EC-435B-B6BE-02EF132007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34DE6C8-4BF2-4541-B23C-E199760DE0A9}"/>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EA0D9CEA-39C2-41FC-A1F6-1F029F4FA64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847A1A1-BEDA-457C-928E-07BB93E22F28}"/>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409256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90AB1-91D8-4728-B6AC-2A4F065DB81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D1C6A1C-C7B9-467F-8037-CC30240714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BA3E17-2860-4DCB-9711-3BC2365EFD2C}"/>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B0CBB135-970C-49AA-9E0E-AF738BF29F6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A69734E-39E9-4C1D-AFA5-E9EF004EE407}"/>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3420844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A1A4-3518-4D44-AB82-1860B83313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36B04A5-50E7-4268-B923-9854337ED5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3E79E9-C9C0-42DF-AA3F-529E8CE52256}"/>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9EBCA0E2-1D38-47BE-9E58-375DABDC665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062DA77-79D1-4406-A2FC-37CB43F5115E}"/>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3822072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F216-2F83-4CFB-9595-C3D2FDC5F37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6645AE2-15C2-46AD-8DB1-D13D958F9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CD92324-1D00-48E0-ACDD-6E76DDED63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B11E79C-23C7-4375-BEB8-1C4516BEEC2B}"/>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6" name="Footer Placeholder 5">
            <a:extLst>
              <a:ext uri="{FF2B5EF4-FFF2-40B4-BE49-F238E27FC236}">
                <a16:creationId xmlns:a16="http://schemas.microsoft.com/office/drawing/2014/main" id="{E6AA454D-604A-4732-B43F-08E0345E5A1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D9F12C4-3913-484E-89B3-5E66FDBE589C}"/>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339944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AA9F-18F4-45BB-BD4E-ECE61306BA31}"/>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03C0B1E-B7E6-4AFE-9A73-2306D13B4D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41F51C-A0FA-4501-B8FB-70236A35E9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98971D8-066C-4B4D-86A9-EF4CE12EB3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56D134-26E5-44AB-A914-0B347DF612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2717F00-6988-4051-8D8C-8417DCB60B60}"/>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8" name="Footer Placeholder 7">
            <a:extLst>
              <a:ext uri="{FF2B5EF4-FFF2-40B4-BE49-F238E27FC236}">
                <a16:creationId xmlns:a16="http://schemas.microsoft.com/office/drawing/2014/main" id="{DED2170F-EE8B-40F3-B506-417700690E9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DF6DB01-61A4-4AB5-B9FD-02E7FED1C1D9}"/>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18346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98DAA-9F63-474E-9CA8-73A80790B97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2A51087-9880-488E-99AD-2E4159923066}"/>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4" name="Footer Placeholder 3">
            <a:extLst>
              <a:ext uri="{FF2B5EF4-FFF2-40B4-BE49-F238E27FC236}">
                <a16:creationId xmlns:a16="http://schemas.microsoft.com/office/drawing/2014/main" id="{7935B249-24C0-4891-93FA-7BE36491819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7B7EE5F3-B4A1-4964-A395-949CB95E72DC}"/>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1377503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4B1A22-902B-4971-8764-381671EADAEE}"/>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3" name="Footer Placeholder 2">
            <a:extLst>
              <a:ext uri="{FF2B5EF4-FFF2-40B4-BE49-F238E27FC236}">
                <a16:creationId xmlns:a16="http://schemas.microsoft.com/office/drawing/2014/main" id="{379D17F2-A9ED-4E83-850F-3F79712BA4C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F98DC40-123C-4928-BABD-8DC8875F87FC}"/>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43133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C3DE-F1BC-4AD8-8B64-F2522C9377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760A92C-2F47-42F4-904E-DEB7021A07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CD76D8C-7EAF-46CC-B721-58AD3D14F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366B4-5C71-42AB-97CE-0DFC5F3DFA77}"/>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6" name="Footer Placeholder 5">
            <a:extLst>
              <a:ext uri="{FF2B5EF4-FFF2-40B4-BE49-F238E27FC236}">
                <a16:creationId xmlns:a16="http://schemas.microsoft.com/office/drawing/2014/main" id="{7B3E320B-A57F-4B1D-B607-0C9958022AE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8156000-8050-4C77-8D93-4FFF01860399}"/>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244935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77F47-F683-4D03-BE5A-E81DA8EF9A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E17CD82-03EB-42B9-95EB-B87BF31FB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65E9A20-0D5C-4B1D-A1B3-5BCCDE122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4A13C-1F4D-43DB-BB7F-306E16088846}"/>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6" name="Footer Placeholder 5">
            <a:extLst>
              <a:ext uri="{FF2B5EF4-FFF2-40B4-BE49-F238E27FC236}">
                <a16:creationId xmlns:a16="http://schemas.microsoft.com/office/drawing/2014/main" id="{253DA9D0-7944-4540-90F2-E6EDB36876B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9A5D128-A361-43E3-B343-A70BA366EDCA}"/>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71701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31E8-8901-4B15-87A1-DC6239A3B75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D1AF502-D6AF-4A86-8A60-938BEDA45D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1C54682-67FA-4135-9943-8E278650B4B2}"/>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F3B5C0A0-B771-45C1-B6EC-425C476A18C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EF273C0-56D0-479C-9317-32256D36DEF7}"/>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3567761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64A2E5-E145-405C-A260-B782F25724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F75D638-F031-4A13-B619-961680E8B6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1382889-50BA-46F1-B5E2-2485C7F2EA55}"/>
              </a:ext>
            </a:extLst>
          </p:cNvPr>
          <p:cNvSpPr>
            <a:spLocks noGrp="1"/>
          </p:cNvSpPr>
          <p:nvPr>
            <p:ph type="dt" sz="half" idx="10"/>
          </p:nvPr>
        </p:nvSpPr>
        <p:spPr/>
        <p:txBody>
          <a:body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8C4AE264-2A0C-4724-AD6B-FE758367C76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1C18EB3-97F4-4FB7-A85C-DC8741B08C0C}"/>
              </a:ext>
            </a:extLst>
          </p:cNvPr>
          <p:cNvSpPr>
            <a:spLocks noGrp="1"/>
          </p:cNvSpPr>
          <p:nvPr>
            <p:ph type="sldNum" sz="quarter" idx="12"/>
          </p:nvPr>
        </p:nvSpPr>
        <p:spPr/>
        <p:txBody>
          <a:bodyPr/>
          <a:lstStyle/>
          <a:p>
            <a:fld id="{9D59026B-83A9-40C9-9D17-C11E753EA260}" type="slidenum">
              <a:rPr lang="en-CA" smtClean="0"/>
              <a:t>‹#›</a:t>
            </a:fld>
            <a:endParaRPr lang="en-CA"/>
          </a:p>
        </p:txBody>
      </p:sp>
    </p:spTree>
    <p:extLst>
      <p:ext uri="{BB962C8B-B14F-4D97-AF65-F5344CB8AC3E}">
        <p14:creationId xmlns:p14="http://schemas.microsoft.com/office/powerpoint/2010/main" val="1585515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01C33E-4697-49CD-8A83-7A8A75B603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6729951-AABE-48FF-9141-92099760E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E760F7-75F9-4838-AEE3-B634F38D37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4986DA-20B5-443D-B42F-85C136F75B9C}" type="datetimeFigureOut">
              <a:rPr lang="en-CA" smtClean="0"/>
              <a:t>2020-11-02</a:t>
            </a:fld>
            <a:endParaRPr lang="en-CA"/>
          </a:p>
        </p:txBody>
      </p:sp>
      <p:sp>
        <p:nvSpPr>
          <p:cNvPr id="5" name="Footer Placeholder 4">
            <a:extLst>
              <a:ext uri="{FF2B5EF4-FFF2-40B4-BE49-F238E27FC236}">
                <a16:creationId xmlns:a16="http://schemas.microsoft.com/office/drawing/2014/main" id="{61F6D590-ABDD-4C98-B879-3C73319D2E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A097A152-806E-4023-AB90-474CFF3143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9026B-83A9-40C9-9D17-C11E753EA260}" type="slidenum">
              <a:rPr lang="en-CA" smtClean="0"/>
              <a:t>‹#›</a:t>
            </a:fld>
            <a:endParaRPr lang="en-CA"/>
          </a:p>
        </p:txBody>
      </p:sp>
    </p:spTree>
    <p:extLst>
      <p:ext uri="{BB962C8B-B14F-4D97-AF65-F5344CB8AC3E}">
        <p14:creationId xmlns:p14="http://schemas.microsoft.com/office/powerpoint/2010/main" val="240506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A2686-8EFE-4CE9-82AC-546F6C339638}"/>
              </a:ext>
            </a:extLst>
          </p:cNvPr>
          <p:cNvSpPr>
            <a:spLocks noGrp="1"/>
          </p:cNvSpPr>
          <p:nvPr>
            <p:ph type="ctrTitle"/>
          </p:nvPr>
        </p:nvSpPr>
        <p:spPr/>
        <p:txBody>
          <a:bodyPr/>
          <a:lstStyle/>
          <a:p>
            <a:r>
              <a:rPr lang="en-US" dirty="0"/>
              <a:t>ITEC5102F Progress Presentation</a:t>
            </a:r>
            <a:endParaRPr lang="en-CA" dirty="0"/>
          </a:p>
        </p:txBody>
      </p:sp>
      <p:sp>
        <p:nvSpPr>
          <p:cNvPr id="3" name="Subtitle 2">
            <a:extLst>
              <a:ext uri="{FF2B5EF4-FFF2-40B4-BE49-F238E27FC236}">
                <a16:creationId xmlns:a16="http://schemas.microsoft.com/office/drawing/2014/main" id="{48FC8233-E80E-4CD0-B6C8-FDDFFF97B879}"/>
              </a:ext>
            </a:extLst>
          </p:cNvPr>
          <p:cNvSpPr>
            <a:spLocks noGrp="1"/>
          </p:cNvSpPr>
          <p:nvPr>
            <p:ph type="subTitle" idx="1"/>
          </p:nvPr>
        </p:nvSpPr>
        <p:spPr/>
        <p:txBody>
          <a:bodyPr/>
          <a:lstStyle/>
          <a:p>
            <a:r>
              <a:rPr lang="en-US" dirty="0"/>
              <a:t>Georges Ankenmann</a:t>
            </a:r>
          </a:p>
          <a:p>
            <a:r>
              <a:rPr lang="en-US" dirty="0"/>
              <a:t>Jeff Bailey</a:t>
            </a:r>
          </a:p>
          <a:p>
            <a:r>
              <a:rPr lang="en-US" dirty="0" err="1"/>
              <a:t>Fahmida</a:t>
            </a:r>
            <a:r>
              <a:rPr lang="en-US" dirty="0"/>
              <a:t> Haque</a:t>
            </a:r>
            <a:endParaRPr lang="en-CA" dirty="0"/>
          </a:p>
        </p:txBody>
      </p:sp>
    </p:spTree>
    <p:extLst>
      <p:ext uri="{BB962C8B-B14F-4D97-AF65-F5344CB8AC3E}">
        <p14:creationId xmlns:p14="http://schemas.microsoft.com/office/powerpoint/2010/main" val="352126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637261-6500-4402-95A1-9FE3DBD9722B}"/>
              </a:ext>
            </a:extLst>
          </p:cNvPr>
          <p:cNvSpPr>
            <a:spLocks noGrp="1"/>
          </p:cNvSpPr>
          <p:nvPr>
            <p:ph type="title"/>
          </p:nvPr>
        </p:nvSpPr>
        <p:spPr/>
        <p:txBody>
          <a:bodyPr/>
          <a:lstStyle/>
          <a:p>
            <a:r>
              <a:rPr lang="en-US" dirty="0"/>
              <a:t>Table of Contents</a:t>
            </a:r>
            <a:endParaRPr lang="en-CA" dirty="0"/>
          </a:p>
        </p:txBody>
      </p:sp>
      <p:sp>
        <p:nvSpPr>
          <p:cNvPr id="8" name="Content Placeholder 7">
            <a:extLst>
              <a:ext uri="{FF2B5EF4-FFF2-40B4-BE49-F238E27FC236}">
                <a16:creationId xmlns:a16="http://schemas.microsoft.com/office/drawing/2014/main" id="{CB2F5D09-940A-4C42-81A8-880C6F38A9DF}"/>
              </a:ext>
            </a:extLst>
          </p:cNvPr>
          <p:cNvSpPr>
            <a:spLocks noGrp="1"/>
          </p:cNvSpPr>
          <p:nvPr>
            <p:ph idx="1"/>
          </p:nvPr>
        </p:nvSpPr>
        <p:spPr/>
        <p:txBody>
          <a:bodyPr>
            <a:normAutofit fontScale="92500" lnSpcReduction="10000"/>
          </a:bodyPr>
          <a:lstStyle/>
          <a:p>
            <a:r>
              <a:rPr lang="en-US" dirty="0"/>
              <a:t>Background</a:t>
            </a:r>
          </a:p>
          <a:p>
            <a:r>
              <a:rPr lang="en-US" dirty="0"/>
              <a:t>Problem Statement</a:t>
            </a:r>
          </a:p>
          <a:p>
            <a:r>
              <a:rPr lang="en-US" dirty="0"/>
              <a:t>Work Plan</a:t>
            </a:r>
          </a:p>
          <a:p>
            <a:r>
              <a:rPr lang="en-US" dirty="0"/>
              <a:t>Metrics</a:t>
            </a:r>
          </a:p>
          <a:p>
            <a:r>
              <a:rPr lang="en-US" dirty="0"/>
              <a:t>Software that will be used</a:t>
            </a:r>
          </a:p>
          <a:p>
            <a:r>
              <a:rPr lang="en-US" dirty="0"/>
              <a:t>Experimentation Process</a:t>
            </a:r>
          </a:p>
          <a:p>
            <a:r>
              <a:rPr lang="en-US" dirty="0"/>
              <a:t>Lab setup</a:t>
            </a:r>
          </a:p>
          <a:p>
            <a:pPr lvl="1"/>
            <a:r>
              <a:rPr lang="en-US" dirty="0"/>
              <a:t>What has been completed</a:t>
            </a:r>
          </a:p>
          <a:p>
            <a:pPr lvl="1"/>
            <a:r>
              <a:rPr lang="en-US" dirty="0"/>
              <a:t>What needs to be completed</a:t>
            </a:r>
          </a:p>
          <a:p>
            <a:r>
              <a:rPr lang="en-US" dirty="0"/>
              <a:t>Quick Demo and Questions</a:t>
            </a:r>
          </a:p>
          <a:p>
            <a:endParaRPr lang="en-US" dirty="0"/>
          </a:p>
          <a:p>
            <a:endParaRPr lang="en-US" dirty="0"/>
          </a:p>
          <a:p>
            <a:endParaRPr lang="en-CA" dirty="0"/>
          </a:p>
        </p:txBody>
      </p:sp>
    </p:spTree>
    <p:extLst>
      <p:ext uri="{BB962C8B-B14F-4D97-AF65-F5344CB8AC3E}">
        <p14:creationId xmlns:p14="http://schemas.microsoft.com/office/powerpoint/2010/main" val="185132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AE3DA0-4464-4248-93B4-9C7DDC01BC92}"/>
              </a:ext>
            </a:extLst>
          </p:cNvPr>
          <p:cNvSpPr>
            <a:spLocks noGrp="1"/>
          </p:cNvSpPr>
          <p:nvPr>
            <p:ph type="title"/>
          </p:nvPr>
        </p:nvSpPr>
        <p:spPr/>
        <p:txBody>
          <a:bodyPr/>
          <a:lstStyle/>
          <a:p>
            <a:r>
              <a:rPr lang="en-CA" dirty="0"/>
              <a:t>Background</a:t>
            </a:r>
          </a:p>
        </p:txBody>
      </p:sp>
      <p:sp>
        <p:nvSpPr>
          <p:cNvPr id="5" name="Text Placeholder 4">
            <a:extLst>
              <a:ext uri="{FF2B5EF4-FFF2-40B4-BE49-F238E27FC236}">
                <a16:creationId xmlns:a16="http://schemas.microsoft.com/office/drawing/2014/main" id="{3285734B-2A5A-48A3-98B8-D0CEABB40B37}"/>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354607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8E3C9D-2C73-4E89-8213-CA25D4414E03}"/>
              </a:ext>
            </a:extLst>
          </p:cNvPr>
          <p:cNvSpPr>
            <a:spLocks noGrp="1"/>
          </p:cNvSpPr>
          <p:nvPr>
            <p:ph type="title"/>
          </p:nvPr>
        </p:nvSpPr>
        <p:spPr/>
        <p:txBody>
          <a:bodyPr/>
          <a:lstStyle/>
          <a:p>
            <a:r>
              <a:rPr lang="en-CA" dirty="0"/>
              <a:t>Background</a:t>
            </a:r>
          </a:p>
        </p:txBody>
      </p:sp>
      <p:sp>
        <p:nvSpPr>
          <p:cNvPr id="5" name="Content Placeholder 4">
            <a:extLst>
              <a:ext uri="{FF2B5EF4-FFF2-40B4-BE49-F238E27FC236}">
                <a16:creationId xmlns:a16="http://schemas.microsoft.com/office/drawing/2014/main" id="{54CB8394-A12F-4961-8599-B573342F11F3}"/>
              </a:ext>
            </a:extLst>
          </p:cNvPr>
          <p:cNvSpPr>
            <a:spLocks noGrp="1"/>
          </p:cNvSpPr>
          <p:nvPr>
            <p:ph idx="1"/>
          </p:nvPr>
        </p:nvSpPr>
        <p:spPr/>
        <p:txBody>
          <a:bodyPr>
            <a:normAutofit fontScale="92500" lnSpcReduction="10000"/>
          </a:bodyPr>
          <a:lstStyle/>
          <a:p>
            <a:r>
              <a:rPr lang="en-US" dirty="0"/>
              <a:t>Suggest ways to implement simple cross network secure service networking for IoT and legacy products</a:t>
            </a:r>
          </a:p>
          <a:p>
            <a:r>
              <a:rPr lang="en-US" dirty="0"/>
              <a:t>Have a way to encrypt traffic at a service level without changing the service itself</a:t>
            </a:r>
          </a:p>
          <a:p>
            <a:r>
              <a:rPr lang="en-US" dirty="0"/>
              <a:t>Missing "drop in security" for legacy applications</a:t>
            </a:r>
          </a:p>
          <a:p>
            <a:r>
              <a:rPr lang="en-US" dirty="0"/>
              <a:t>Remove the need for VPNs</a:t>
            </a:r>
          </a:p>
          <a:p>
            <a:r>
              <a:rPr lang="en-US" dirty="0"/>
              <a:t>Remove the need to open ports</a:t>
            </a:r>
          </a:p>
          <a:p>
            <a:r>
              <a:rPr lang="en-US" dirty="0"/>
              <a:t>Less management</a:t>
            </a:r>
          </a:p>
          <a:p>
            <a:r>
              <a:rPr lang="en-US" dirty="0"/>
              <a:t>Service based tunnels</a:t>
            </a:r>
          </a:p>
          <a:p>
            <a:r>
              <a:rPr lang="en-US" dirty="0"/>
              <a:t>Not too many papers exists on this topic</a:t>
            </a:r>
            <a:endParaRPr lang="en-CA" dirty="0"/>
          </a:p>
        </p:txBody>
      </p:sp>
    </p:spTree>
    <p:extLst>
      <p:ext uri="{BB962C8B-B14F-4D97-AF65-F5344CB8AC3E}">
        <p14:creationId xmlns:p14="http://schemas.microsoft.com/office/powerpoint/2010/main" val="3571219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0F3B-7FF2-4DFF-8E50-B25FE2E8E9B6}"/>
              </a:ext>
            </a:extLst>
          </p:cNvPr>
          <p:cNvSpPr>
            <a:spLocks noGrp="1"/>
          </p:cNvSpPr>
          <p:nvPr>
            <p:ph type="title"/>
          </p:nvPr>
        </p:nvSpPr>
        <p:spPr/>
        <p:txBody>
          <a:bodyPr/>
          <a:lstStyle/>
          <a:p>
            <a:r>
              <a:rPr lang="en-CA" dirty="0"/>
              <a:t>Experimentation Success</a:t>
            </a:r>
          </a:p>
        </p:txBody>
      </p:sp>
      <p:sp>
        <p:nvSpPr>
          <p:cNvPr id="5" name="Content Placeholder 4">
            <a:extLst>
              <a:ext uri="{FF2B5EF4-FFF2-40B4-BE49-F238E27FC236}">
                <a16:creationId xmlns:a16="http://schemas.microsoft.com/office/drawing/2014/main" id="{987BA5FD-81B5-4636-9DEC-8E0B0ECE6B25}"/>
              </a:ext>
            </a:extLst>
          </p:cNvPr>
          <p:cNvSpPr>
            <a:spLocks noGrp="1"/>
          </p:cNvSpPr>
          <p:nvPr>
            <p:ph idx="1"/>
          </p:nvPr>
        </p:nvSpPr>
        <p:spPr/>
        <p:txBody>
          <a:bodyPr/>
          <a:lstStyle/>
          <a:p>
            <a:r>
              <a:rPr lang="en-CA" dirty="0"/>
              <a:t>What counts as a success?</a:t>
            </a:r>
          </a:p>
          <a:p>
            <a:pPr lvl="1"/>
            <a:r>
              <a:rPr lang="en-CA" dirty="0"/>
              <a:t>Data is encrypted</a:t>
            </a:r>
          </a:p>
          <a:p>
            <a:pPr lvl="1"/>
            <a:r>
              <a:rPr lang="en-CA" dirty="0"/>
              <a:t>Latency is “reasonably” different</a:t>
            </a:r>
          </a:p>
        </p:txBody>
      </p:sp>
    </p:spTree>
    <p:extLst>
      <p:ext uri="{BB962C8B-B14F-4D97-AF65-F5344CB8AC3E}">
        <p14:creationId xmlns:p14="http://schemas.microsoft.com/office/powerpoint/2010/main" val="56143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30492-9E9A-4187-AE39-CC4BF17129E2}"/>
              </a:ext>
            </a:extLst>
          </p:cNvPr>
          <p:cNvSpPr>
            <a:spLocks noGrp="1"/>
          </p:cNvSpPr>
          <p:nvPr>
            <p:ph type="title"/>
          </p:nvPr>
        </p:nvSpPr>
        <p:spPr/>
        <p:txBody>
          <a:bodyPr/>
          <a:lstStyle/>
          <a:p>
            <a:r>
              <a:rPr lang="en-CA" dirty="0"/>
              <a:t>Problem Statement</a:t>
            </a:r>
          </a:p>
        </p:txBody>
      </p:sp>
      <p:sp>
        <p:nvSpPr>
          <p:cNvPr id="3" name="Text Placeholder 2">
            <a:extLst>
              <a:ext uri="{FF2B5EF4-FFF2-40B4-BE49-F238E27FC236}">
                <a16:creationId xmlns:a16="http://schemas.microsoft.com/office/drawing/2014/main" id="{3519B713-8E79-4330-8BC0-1F6E9B8BD600}"/>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3457172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382DFD-CAA7-42FB-8314-CEA4C92555A0}"/>
              </a:ext>
            </a:extLst>
          </p:cNvPr>
          <p:cNvSpPr>
            <a:spLocks noGrp="1"/>
          </p:cNvSpPr>
          <p:nvPr>
            <p:ph type="title"/>
          </p:nvPr>
        </p:nvSpPr>
        <p:spPr/>
        <p:txBody>
          <a:bodyPr/>
          <a:lstStyle/>
          <a:p>
            <a:r>
              <a:rPr lang="en-CA" dirty="0"/>
              <a:t>Problem Statement</a:t>
            </a:r>
          </a:p>
        </p:txBody>
      </p:sp>
      <p:sp>
        <p:nvSpPr>
          <p:cNvPr id="5" name="Content Placeholder 4">
            <a:extLst>
              <a:ext uri="{FF2B5EF4-FFF2-40B4-BE49-F238E27FC236}">
                <a16:creationId xmlns:a16="http://schemas.microsoft.com/office/drawing/2014/main" id="{DB9F85EB-77EF-49E0-B3D1-A86285C8B02E}"/>
              </a:ext>
            </a:extLst>
          </p:cNvPr>
          <p:cNvSpPr>
            <a:spLocks noGrp="1"/>
          </p:cNvSpPr>
          <p:nvPr>
            <p:ph idx="1"/>
          </p:nvPr>
        </p:nvSpPr>
        <p:spPr/>
        <p:txBody>
          <a:bodyPr>
            <a:normAutofit/>
          </a:bodyPr>
          <a:lstStyle/>
          <a:p>
            <a:r>
              <a:rPr lang="en-US" sz="3600" dirty="0"/>
              <a:t>Overlay networks must be implemented at the network level rather than the service level</a:t>
            </a:r>
          </a:p>
          <a:p>
            <a:r>
              <a:rPr lang="en-US" sz="3600" dirty="0"/>
              <a:t>A comparison of existing frameworks and the proposed framework that offers security as the preliminary design consideration to:</a:t>
            </a:r>
          </a:p>
          <a:p>
            <a:pPr lvl="1"/>
            <a:r>
              <a:rPr lang="en-US" sz="3200" dirty="0"/>
              <a:t>Demonstrate improved performance</a:t>
            </a:r>
          </a:p>
          <a:p>
            <a:pPr lvl="1"/>
            <a:r>
              <a:rPr lang="en-US" sz="3200" dirty="0"/>
              <a:t>Show lower maintenance and management requirements</a:t>
            </a:r>
          </a:p>
        </p:txBody>
      </p:sp>
    </p:spTree>
    <p:extLst>
      <p:ext uri="{BB962C8B-B14F-4D97-AF65-F5344CB8AC3E}">
        <p14:creationId xmlns:p14="http://schemas.microsoft.com/office/powerpoint/2010/main" val="271399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DF46-A88A-43AE-ADDF-B3EEABADD3B6}"/>
              </a:ext>
            </a:extLst>
          </p:cNvPr>
          <p:cNvSpPr>
            <a:spLocks noGrp="1"/>
          </p:cNvSpPr>
          <p:nvPr>
            <p:ph type="title"/>
          </p:nvPr>
        </p:nvSpPr>
        <p:spPr/>
        <p:txBody>
          <a:bodyPr/>
          <a:lstStyle/>
          <a:p>
            <a:r>
              <a:rPr lang="en-CA" dirty="0"/>
              <a:t>Work Plan</a:t>
            </a:r>
          </a:p>
        </p:txBody>
      </p:sp>
      <p:sp>
        <p:nvSpPr>
          <p:cNvPr id="3" name="Text Placeholder 2">
            <a:extLst>
              <a:ext uri="{FF2B5EF4-FFF2-40B4-BE49-F238E27FC236}">
                <a16:creationId xmlns:a16="http://schemas.microsoft.com/office/drawing/2014/main" id="{BB7824FA-20C4-488D-A171-1490AAAA2D34}"/>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884953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A1B46A-A96F-4206-81C1-90B5EEC67682}"/>
              </a:ext>
            </a:extLst>
          </p:cNvPr>
          <p:cNvSpPr>
            <a:spLocks noGrp="1"/>
          </p:cNvSpPr>
          <p:nvPr>
            <p:ph type="title"/>
          </p:nvPr>
        </p:nvSpPr>
        <p:spPr/>
        <p:txBody>
          <a:bodyPr/>
          <a:lstStyle/>
          <a:p>
            <a:r>
              <a:rPr lang="en-CA" dirty="0"/>
              <a:t>Work Plan</a:t>
            </a:r>
          </a:p>
        </p:txBody>
      </p:sp>
      <p:sp>
        <p:nvSpPr>
          <p:cNvPr id="5" name="Content Placeholder 4">
            <a:extLst>
              <a:ext uri="{FF2B5EF4-FFF2-40B4-BE49-F238E27FC236}">
                <a16:creationId xmlns:a16="http://schemas.microsoft.com/office/drawing/2014/main" id="{75600084-43AA-4550-A052-6391236DDE50}"/>
              </a:ext>
            </a:extLst>
          </p:cNvPr>
          <p:cNvSpPr>
            <a:spLocks noGrp="1"/>
          </p:cNvSpPr>
          <p:nvPr>
            <p:ph idx="1"/>
          </p:nvPr>
        </p:nvSpPr>
        <p:spPr/>
        <p:txBody>
          <a:bodyPr>
            <a:normAutofit fontScale="77500" lnSpcReduction="20000"/>
          </a:bodyPr>
          <a:lstStyle/>
          <a:p>
            <a:r>
              <a:rPr lang="en-CA" dirty="0"/>
              <a:t>Proposal Phase – </a:t>
            </a:r>
            <a:r>
              <a:rPr lang="en-CA" i="1" dirty="0"/>
              <a:t>Completed</a:t>
            </a:r>
          </a:p>
          <a:p>
            <a:r>
              <a:rPr lang="en-CA" dirty="0"/>
              <a:t>Research Phase – </a:t>
            </a:r>
            <a:r>
              <a:rPr lang="en-CA" i="1" dirty="0"/>
              <a:t>Completed</a:t>
            </a:r>
          </a:p>
          <a:p>
            <a:pPr lvl="1"/>
            <a:r>
              <a:rPr lang="en-CA" dirty="0"/>
              <a:t>Finding and reading papers (concise literature review)</a:t>
            </a:r>
          </a:p>
          <a:p>
            <a:pPr lvl="1"/>
            <a:r>
              <a:rPr lang="en-CA" dirty="0"/>
              <a:t>Determine metrics</a:t>
            </a:r>
          </a:p>
          <a:p>
            <a:pPr lvl="1"/>
            <a:r>
              <a:rPr lang="en-CA" dirty="0"/>
              <a:t>Find software</a:t>
            </a:r>
          </a:p>
          <a:p>
            <a:pPr lvl="1"/>
            <a:r>
              <a:rPr lang="en-CA" dirty="0"/>
              <a:t>Determine best course of action</a:t>
            </a:r>
          </a:p>
          <a:p>
            <a:r>
              <a:rPr lang="en-CA" dirty="0"/>
              <a:t>Experimenting Phase – </a:t>
            </a:r>
            <a:r>
              <a:rPr lang="en-CA" i="1" dirty="0"/>
              <a:t>Current Phase</a:t>
            </a:r>
            <a:endParaRPr lang="en-CA" dirty="0"/>
          </a:p>
          <a:p>
            <a:pPr lvl="1"/>
            <a:r>
              <a:rPr lang="en-CA" dirty="0"/>
              <a:t>Setup software</a:t>
            </a:r>
          </a:p>
          <a:p>
            <a:pPr lvl="1"/>
            <a:r>
              <a:rPr lang="en-CA" dirty="0"/>
              <a:t>Prepare experimentation</a:t>
            </a:r>
          </a:p>
          <a:p>
            <a:pPr lvl="1"/>
            <a:r>
              <a:rPr lang="en-CA" dirty="0"/>
              <a:t>Gather metrics and data</a:t>
            </a:r>
          </a:p>
          <a:p>
            <a:r>
              <a:rPr lang="en-CA" dirty="0"/>
              <a:t>Reporting Phase</a:t>
            </a:r>
          </a:p>
          <a:p>
            <a:pPr lvl="1"/>
            <a:r>
              <a:rPr lang="en-CA" dirty="0"/>
              <a:t>Report on metrics and data</a:t>
            </a:r>
          </a:p>
          <a:p>
            <a:r>
              <a:rPr lang="en-CA" dirty="0"/>
              <a:t>Presentation Phase</a:t>
            </a:r>
          </a:p>
          <a:p>
            <a:pPr lvl="1"/>
            <a:r>
              <a:rPr lang="en-CA" dirty="0"/>
              <a:t>Present reported metrics and data</a:t>
            </a:r>
          </a:p>
        </p:txBody>
      </p:sp>
    </p:spTree>
    <p:extLst>
      <p:ext uri="{BB962C8B-B14F-4D97-AF65-F5344CB8AC3E}">
        <p14:creationId xmlns:p14="http://schemas.microsoft.com/office/powerpoint/2010/main" val="4285876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2FC5F-756D-418A-A747-1DA62277C53D}"/>
              </a:ext>
            </a:extLst>
          </p:cNvPr>
          <p:cNvSpPr>
            <a:spLocks noGrp="1"/>
          </p:cNvSpPr>
          <p:nvPr>
            <p:ph type="title"/>
          </p:nvPr>
        </p:nvSpPr>
        <p:spPr/>
        <p:txBody>
          <a:bodyPr/>
          <a:lstStyle/>
          <a:p>
            <a:r>
              <a:rPr lang="en-CA" dirty="0"/>
              <a:t>Metrics</a:t>
            </a:r>
          </a:p>
        </p:txBody>
      </p:sp>
      <p:sp>
        <p:nvSpPr>
          <p:cNvPr id="3" name="Text Placeholder 2">
            <a:extLst>
              <a:ext uri="{FF2B5EF4-FFF2-40B4-BE49-F238E27FC236}">
                <a16:creationId xmlns:a16="http://schemas.microsoft.com/office/drawing/2014/main" id="{F39F4DC0-CB49-4FC4-82E0-DFB30924B628}"/>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3388606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FF7DA6-9582-4F91-80BA-6E597173CB0A}"/>
              </a:ext>
            </a:extLst>
          </p:cNvPr>
          <p:cNvSpPr>
            <a:spLocks noGrp="1"/>
          </p:cNvSpPr>
          <p:nvPr>
            <p:ph type="title"/>
          </p:nvPr>
        </p:nvSpPr>
        <p:spPr/>
        <p:txBody>
          <a:bodyPr/>
          <a:lstStyle/>
          <a:p>
            <a:r>
              <a:rPr lang="en-CA" dirty="0"/>
              <a:t>Metrics</a:t>
            </a:r>
          </a:p>
        </p:txBody>
      </p:sp>
      <p:sp>
        <p:nvSpPr>
          <p:cNvPr id="5" name="Content Placeholder 4">
            <a:extLst>
              <a:ext uri="{FF2B5EF4-FFF2-40B4-BE49-F238E27FC236}">
                <a16:creationId xmlns:a16="http://schemas.microsoft.com/office/drawing/2014/main" id="{53CFA197-CDEF-46C5-8D17-95764B7A8718}"/>
              </a:ext>
            </a:extLst>
          </p:cNvPr>
          <p:cNvSpPr>
            <a:spLocks noGrp="1"/>
          </p:cNvSpPr>
          <p:nvPr>
            <p:ph idx="1"/>
          </p:nvPr>
        </p:nvSpPr>
        <p:spPr/>
        <p:txBody>
          <a:bodyPr/>
          <a:lstStyle/>
          <a:p>
            <a:r>
              <a:rPr lang="en-CA" dirty="0"/>
              <a:t>To determine the true value of this idea it must be compared to the overlay network it aims to replace – VPNs</a:t>
            </a:r>
          </a:p>
          <a:p>
            <a:r>
              <a:rPr lang="en-CA" dirty="0"/>
              <a:t>Thus the following will be compared across both systems</a:t>
            </a:r>
          </a:p>
          <a:p>
            <a:pPr lvl="1"/>
            <a:r>
              <a:rPr lang="en-CA" dirty="0"/>
              <a:t>Latency</a:t>
            </a:r>
          </a:p>
          <a:p>
            <a:pPr lvl="1"/>
            <a:r>
              <a:rPr lang="en-CA" dirty="0"/>
              <a:t>Throughput</a:t>
            </a:r>
          </a:p>
          <a:p>
            <a:pPr lvl="1"/>
            <a:r>
              <a:rPr lang="en-CA" dirty="0"/>
              <a:t>Number of encrypted packets</a:t>
            </a:r>
          </a:p>
          <a:p>
            <a:pPr lvl="1"/>
            <a:r>
              <a:rPr lang="en-CA" dirty="0"/>
              <a:t>Number of clear text packets</a:t>
            </a:r>
          </a:p>
          <a:p>
            <a:pPr lvl="1"/>
            <a:r>
              <a:rPr lang="en-CA" dirty="0"/>
              <a:t>Resource utilization of host</a:t>
            </a:r>
          </a:p>
          <a:p>
            <a:pPr marL="0" indent="0">
              <a:buNone/>
            </a:pPr>
            <a:endParaRPr lang="en-CA" dirty="0"/>
          </a:p>
        </p:txBody>
      </p:sp>
    </p:spTree>
    <p:extLst>
      <p:ext uri="{BB962C8B-B14F-4D97-AF65-F5344CB8AC3E}">
        <p14:creationId xmlns:p14="http://schemas.microsoft.com/office/powerpoint/2010/main" val="3981011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D359-D884-43C2-8221-532C441C241A}"/>
              </a:ext>
            </a:extLst>
          </p:cNvPr>
          <p:cNvSpPr>
            <a:spLocks noGrp="1"/>
          </p:cNvSpPr>
          <p:nvPr>
            <p:ph type="title"/>
          </p:nvPr>
        </p:nvSpPr>
        <p:spPr/>
        <p:txBody>
          <a:bodyPr/>
          <a:lstStyle/>
          <a:p>
            <a:r>
              <a:rPr lang="en-CA" dirty="0"/>
              <a:t>Metrics</a:t>
            </a:r>
          </a:p>
        </p:txBody>
      </p:sp>
      <p:sp>
        <p:nvSpPr>
          <p:cNvPr id="3" name="Content Placeholder 2">
            <a:extLst>
              <a:ext uri="{FF2B5EF4-FFF2-40B4-BE49-F238E27FC236}">
                <a16:creationId xmlns:a16="http://schemas.microsoft.com/office/drawing/2014/main" id="{DD97F922-979C-4D33-AC72-114E232120BF}"/>
              </a:ext>
            </a:extLst>
          </p:cNvPr>
          <p:cNvSpPr>
            <a:spLocks noGrp="1"/>
          </p:cNvSpPr>
          <p:nvPr>
            <p:ph idx="1"/>
          </p:nvPr>
        </p:nvSpPr>
        <p:spPr/>
        <p:txBody>
          <a:bodyPr/>
          <a:lstStyle/>
          <a:p>
            <a:r>
              <a:rPr lang="en-CA" dirty="0"/>
              <a:t>To properly compare both security techniques a method to emulate a VPN is needed</a:t>
            </a:r>
          </a:p>
          <a:p>
            <a:r>
              <a:rPr lang="en-CA" dirty="0"/>
              <a:t>Since this is not the main pursuit of our project we will be using a proven and documented method of deploying a VPN via Docker</a:t>
            </a:r>
          </a:p>
          <a:p>
            <a:r>
              <a:rPr lang="en-CA" dirty="0"/>
              <a:t>This will allow us to replicate the same services as Docker images for both experiments which thus provides valuable comparison of the proposed method versus a method currently used for quick VPN deployment to access services. </a:t>
            </a:r>
          </a:p>
          <a:p>
            <a:endParaRPr lang="en-CA" dirty="0"/>
          </a:p>
        </p:txBody>
      </p:sp>
    </p:spTree>
    <p:extLst>
      <p:ext uri="{BB962C8B-B14F-4D97-AF65-F5344CB8AC3E}">
        <p14:creationId xmlns:p14="http://schemas.microsoft.com/office/powerpoint/2010/main" val="2275064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1D88-F012-41DA-9023-6025A363F882}"/>
              </a:ext>
            </a:extLst>
          </p:cNvPr>
          <p:cNvSpPr>
            <a:spLocks noGrp="1"/>
          </p:cNvSpPr>
          <p:nvPr>
            <p:ph type="title"/>
          </p:nvPr>
        </p:nvSpPr>
        <p:spPr/>
        <p:txBody>
          <a:bodyPr/>
          <a:lstStyle/>
          <a:p>
            <a:r>
              <a:rPr lang="en-CA" dirty="0"/>
              <a:t>Software that will be used</a:t>
            </a:r>
          </a:p>
        </p:txBody>
      </p:sp>
      <p:sp>
        <p:nvSpPr>
          <p:cNvPr id="3" name="Text Placeholder 2">
            <a:extLst>
              <a:ext uri="{FF2B5EF4-FFF2-40B4-BE49-F238E27FC236}">
                <a16:creationId xmlns:a16="http://schemas.microsoft.com/office/drawing/2014/main" id="{69AEAE19-A3F8-4B9A-9738-55F7CBD687F3}"/>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88224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05147-6BCB-4905-9B7D-3A291BF0D821}"/>
              </a:ext>
            </a:extLst>
          </p:cNvPr>
          <p:cNvSpPr>
            <a:spLocks noGrp="1"/>
          </p:cNvSpPr>
          <p:nvPr>
            <p:ph type="title"/>
          </p:nvPr>
        </p:nvSpPr>
        <p:spPr/>
        <p:txBody>
          <a:bodyPr/>
          <a:lstStyle/>
          <a:p>
            <a:r>
              <a:rPr lang="en-CA" dirty="0"/>
              <a:t>Software that will be used</a:t>
            </a:r>
          </a:p>
        </p:txBody>
      </p:sp>
      <p:sp>
        <p:nvSpPr>
          <p:cNvPr id="5" name="Content Placeholder 4">
            <a:extLst>
              <a:ext uri="{FF2B5EF4-FFF2-40B4-BE49-F238E27FC236}">
                <a16:creationId xmlns:a16="http://schemas.microsoft.com/office/drawing/2014/main" id="{B771B225-985D-48A1-83A0-C85AE2E250DD}"/>
              </a:ext>
            </a:extLst>
          </p:cNvPr>
          <p:cNvSpPr>
            <a:spLocks noGrp="1"/>
          </p:cNvSpPr>
          <p:nvPr>
            <p:ph sz="half" idx="1"/>
          </p:nvPr>
        </p:nvSpPr>
        <p:spPr/>
        <p:txBody>
          <a:bodyPr>
            <a:normAutofit/>
          </a:bodyPr>
          <a:lstStyle/>
          <a:p>
            <a:r>
              <a:rPr lang="en-CA" dirty="0"/>
              <a:t>Elasticsearch</a:t>
            </a:r>
          </a:p>
          <a:p>
            <a:r>
              <a:rPr lang="en-CA" dirty="0"/>
              <a:t>Kibana</a:t>
            </a:r>
          </a:p>
          <a:p>
            <a:r>
              <a:rPr lang="en-CA" dirty="0"/>
              <a:t>Docker Engine</a:t>
            </a:r>
          </a:p>
          <a:p>
            <a:r>
              <a:rPr lang="en-CA" dirty="0"/>
              <a:t>Docker Compose</a:t>
            </a:r>
          </a:p>
          <a:p>
            <a:r>
              <a:rPr lang="en-CA" dirty="0" err="1"/>
              <a:t>Libvirt</a:t>
            </a:r>
            <a:r>
              <a:rPr lang="en-CA" dirty="0"/>
              <a:t> – QEMU/KVM</a:t>
            </a:r>
          </a:p>
          <a:p>
            <a:r>
              <a:rPr lang="en-CA" dirty="0" err="1"/>
              <a:t>Shadowsocks</a:t>
            </a:r>
            <a:endParaRPr lang="en-CA" dirty="0"/>
          </a:p>
          <a:p>
            <a:endParaRPr lang="en-CA" dirty="0"/>
          </a:p>
          <a:p>
            <a:endParaRPr lang="en-CA" dirty="0"/>
          </a:p>
        </p:txBody>
      </p:sp>
      <p:sp>
        <p:nvSpPr>
          <p:cNvPr id="6" name="Content Placeholder 5">
            <a:extLst>
              <a:ext uri="{FF2B5EF4-FFF2-40B4-BE49-F238E27FC236}">
                <a16:creationId xmlns:a16="http://schemas.microsoft.com/office/drawing/2014/main" id="{19FD1A11-B411-42B1-B259-1E232C2564BC}"/>
              </a:ext>
            </a:extLst>
          </p:cNvPr>
          <p:cNvSpPr>
            <a:spLocks noGrp="1"/>
          </p:cNvSpPr>
          <p:nvPr>
            <p:ph sz="half" idx="2"/>
          </p:nvPr>
        </p:nvSpPr>
        <p:spPr/>
        <p:txBody>
          <a:bodyPr/>
          <a:lstStyle/>
          <a:p>
            <a:r>
              <a:rPr lang="en-CA" dirty="0" err="1"/>
              <a:t>Wireguard</a:t>
            </a:r>
            <a:endParaRPr lang="en-CA" dirty="0"/>
          </a:p>
          <a:p>
            <a:r>
              <a:rPr lang="en-CA" dirty="0"/>
              <a:t>Consul</a:t>
            </a:r>
          </a:p>
          <a:p>
            <a:r>
              <a:rPr lang="en-CA" dirty="0"/>
              <a:t>Wireshark</a:t>
            </a:r>
          </a:p>
          <a:p>
            <a:r>
              <a:rPr lang="en-CA" dirty="0"/>
              <a:t>Python</a:t>
            </a:r>
          </a:p>
          <a:p>
            <a:r>
              <a:rPr lang="en-CA" dirty="0"/>
              <a:t>MQTT</a:t>
            </a:r>
          </a:p>
          <a:p>
            <a:r>
              <a:rPr lang="en-CA" dirty="0" err="1"/>
              <a:t>Stunnel</a:t>
            </a:r>
            <a:endParaRPr lang="en-CA" dirty="0"/>
          </a:p>
        </p:txBody>
      </p:sp>
    </p:spTree>
    <p:extLst>
      <p:ext uri="{BB962C8B-B14F-4D97-AF65-F5344CB8AC3E}">
        <p14:creationId xmlns:p14="http://schemas.microsoft.com/office/powerpoint/2010/main" val="1031710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65FB-8D30-4D1C-8D39-090CA1034EBD}"/>
              </a:ext>
            </a:extLst>
          </p:cNvPr>
          <p:cNvSpPr>
            <a:spLocks noGrp="1"/>
          </p:cNvSpPr>
          <p:nvPr>
            <p:ph type="title"/>
          </p:nvPr>
        </p:nvSpPr>
        <p:spPr/>
        <p:txBody>
          <a:bodyPr/>
          <a:lstStyle/>
          <a:p>
            <a:r>
              <a:rPr lang="en-CA" dirty="0"/>
              <a:t>Lab Setup</a:t>
            </a:r>
          </a:p>
        </p:txBody>
      </p:sp>
      <p:sp>
        <p:nvSpPr>
          <p:cNvPr id="3" name="Text Placeholder 2">
            <a:extLst>
              <a:ext uri="{FF2B5EF4-FFF2-40B4-BE49-F238E27FC236}">
                <a16:creationId xmlns:a16="http://schemas.microsoft.com/office/drawing/2014/main" id="{71E6ECEE-0EFE-4131-B7C3-DEF48BCC83EC}"/>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767749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851B87-BF7A-4628-B37E-262489FA708F}"/>
              </a:ext>
            </a:extLst>
          </p:cNvPr>
          <p:cNvSpPr>
            <a:spLocks noGrp="1"/>
          </p:cNvSpPr>
          <p:nvPr>
            <p:ph type="title"/>
          </p:nvPr>
        </p:nvSpPr>
        <p:spPr/>
        <p:txBody>
          <a:bodyPr/>
          <a:lstStyle/>
          <a:p>
            <a:r>
              <a:rPr lang="en-CA" dirty="0"/>
              <a:t>What has been completed?</a:t>
            </a:r>
          </a:p>
        </p:txBody>
      </p:sp>
      <p:sp>
        <p:nvSpPr>
          <p:cNvPr id="5" name="Content Placeholder 4">
            <a:extLst>
              <a:ext uri="{FF2B5EF4-FFF2-40B4-BE49-F238E27FC236}">
                <a16:creationId xmlns:a16="http://schemas.microsoft.com/office/drawing/2014/main" id="{922924CF-C0C7-442B-AC55-9E445A7DB6A6}"/>
              </a:ext>
            </a:extLst>
          </p:cNvPr>
          <p:cNvSpPr>
            <a:spLocks noGrp="1"/>
          </p:cNvSpPr>
          <p:nvPr>
            <p:ph idx="1"/>
          </p:nvPr>
        </p:nvSpPr>
        <p:spPr/>
        <p:txBody>
          <a:bodyPr/>
          <a:lstStyle/>
          <a:p>
            <a:r>
              <a:rPr lang="en-CA" dirty="0"/>
              <a:t>Base lab setup</a:t>
            </a:r>
          </a:p>
          <a:p>
            <a:r>
              <a:rPr lang="en-CA" dirty="0"/>
              <a:t>Docker Images</a:t>
            </a:r>
          </a:p>
          <a:p>
            <a:r>
              <a:rPr lang="en-CA" dirty="0"/>
              <a:t>MQTT Server</a:t>
            </a:r>
          </a:p>
          <a:p>
            <a:r>
              <a:rPr lang="en-CA" dirty="0"/>
              <a:t>MQTT Client</a:t>
            </a:r>
          </a:p>
          <a:p>
            <a:r>
              <a:rPr lang="en-CA" dirty="0"/>
              <a:t>HTTP Server</a:t>
            </a:r>
          </a:p>
          <a:p>
            <a:r>
              <a:rPr lang="en-CA" dirty="0"/>
              <a:t>HTTP Client</a:t>
            </a:r>
          </a:p>
          <a:p>
            <a:r>
              <a:rPr lang="en-CA" dirty="0"/>
              <a:t>Manual Wireshark packet capture</a:t>
            </a:r>
          </a:p>
        </p:txBody>
      </p:sp>
    </p:spTree>
    <p:extLst>
      <p:ext uri="{BB962C8B-B14F-4D97-AF65-F5344CB8AC3E}">
        <p14:creationId xmlns:p14="http://schemas.microsoft.com/office/powerpoint/2010/main" val="206342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9F0D-AD95-4B7D-A35D-52049F5273AB}"/>
              </a:ext>
            </a:extLst>
          </p:cNvPr>
          <p:cNvSpPr>
            <a:spLocks noGrp="1"/>
          </p:cNvSpPr>
          <p:nvPr>
            <p:ph type="title"/>
          </p:nvPr>
        </p:nvSpPr>
        <p:spPr/>
        <p:txBody>
          <a:bodyPr/>
          <a:lstStyle/>
          <a:p>
            <a:r>
              <a:rPr lang="en-CA" dirty="0"/>
              <a:t>What must be completed?</a:t>
            </a:r>
          </a:p>
        </p:txBody>
      </p:sp>
      <p:sp>
        <p:nvSpPr>
          <p:cNvPr id="3" name="Content Placeholder 2">
            <a:extLst>
              <a:ext uri="{FF2B5EF4-FFF2-40B4-BE49-F238E27FC236}">
                <a16:creationId xmlns:a16="http://schemas.microsoft.com/office/drawing/2014/main" id="{0EEADC09-09E7-4208-B0BC-730D951ABEFC}"/>
              </a:ext>
            </a:extLst>
          </p:cNvPr>
          <p:cNvSpPr>
            <a:spLocks noGrp="1"/>
          </p:cNvSpPr>
          <p:nvPr>
            <p:ph idx="1"/>
          </p:nvPr>
        </p:nvSpPr>
        <p:spPr/>
        <p:txBody>
          <a:bodyPr/>
          <a:lstStyle/>
          <a:p>
            <a:r>
              <a:rPr lang="en-CA" dirty="0"/>
              <a:t>Encryption tunnels</a:t>
            </a:r>
          </a:p>
          <a:p>
            <a:r>
              <a:rPr lang="en-CA" dirty="0"/>
              <a:t>Kibana Graphs</a:t>
            </a:r>
          </a:p>
          <a:p>
            <a:r>
              <a:rPr lang="en-CA" dirty="0"/>
              <a:t>Automatic Wireshark packet capture</a:t>
            </a:r>
          </a:p>
          <a:p>
            <a:r>
              <a:rPr lang="en-CA" dirty="0"/>
              <a:t>Reporting on metrics</a:t>
            </a:r>
          </a:p>
          <a:p>
            <a:r>
              <a:rPr lang="en-CA" dirty="0"/>
              <a:t>Reporting on data</a:t>
            </a:r>
          </a:p>
        </p:txBody>
      </p:sp>
    </p:spTree>
    <p:extLst>
      <p:ext uri="{BB962C8B-B14F-4D97-AF65-F5344CB8AC3E}">
        <p14:creationId xmlns:p14="http://schemas.microsoft.com/office/powerpoint/2010/main" val="1987518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1910B-D528-44EB-8819-07973AE76C2B}"/>
              </a:ext>
            </a:extLst>
          </p:cNvPr>
          <p:cNvSpPr>
            <a:spLocks noGrp="1"/>
          </p:cNvSpPr>
          <p:nvPr>
            <p:ph type="title"/>
          </p:nvPr>
        </p:nvSpPr>
        <p:spPr/>
        <p:txBody>
          <a:bodyPr/>
          <a:lstStyle/>
          <a:p>
            <a:r>
              <a:rPr lang="en-CA" dirty="0"/>
              <a:t>Quick Demo and Questions</a:t>
            </a:r>
          </a:p>
        </p:txBody>
      </p:sp>
      <p:sp>
        <p:nvSpPr>
          <p:cNvPr id="4" name="Text Placeholder 3">
            <a:extLst>
              <a:ext uri="{FF2B5EF4-FFF2-40B4-BE49-F238E27FC236}">
                <a16:creationId xmlns:a16="http://schemas.microsoft.com/office/drawing/2014/main" id="{176B81B2-6C1F-4B17-8B9E-7464702D393B}"/>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376828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497</Words>
  <Application>Microsoft Office PowerPoint</Application>
  <PresentationFormat>Widescreen</PresentationFormat>
  <Paragraphs>127</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ITEC5102F Progress Presentation</vt:lpstr>
      <vt:lpstr>Table of Contents</vt:lpstr>
      <vt:lpstr>Background</vt:lpstr>
      <vt:lpstr>Background</vt:lpstr>
      <vt:lpstr>Experimentation Success</vt:lpstr>
      <vt:lpstr>Problem Statement</vt:lpstr>
      <vt:lpstr>Problem Statement</vt:lpstr>
      <vt:lpstr>Work Plan</vt:lpstr>
      <vt:lpstr>Work Plan</vt:lpstr>
      <vt:lpstr>Metrics</vt:lpstr>
      <vt:lpstr>Metrics</vt:lpstr>
      <vt:lpstr>Metrics</vt:lpstr>
      <vt:lpstr>Software that will be used</vt:lpstr>
      <vt:lpstr>Software that will be used</vt:lpstr>
      <vt:lpstr>Lab Setup</vt:lpstr>
      <vt:lpstr>What has been completed?</vt:lpstr>
      <vt:lpstr>What must be completed?</vt:lpstr>
      <vt:lpstr>Quick Demo and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Georges Ankenmann</dc:creator>
  <cp:lastModifiedBy>Jeff Bailey</cp:lastModifiedBy>
  <cp:revision>6</cp:revision>
  <dcterms:created xsi:type="dcterms:W3CDTF">2020-10-31T14:17:09Z</dcterms:created>
  <dcterms:modified xsi:type="dcterms:W3CDTF">2020-11-02T15:06:11Z</dcterms:modified>
</cp:coreProperties>
</file>